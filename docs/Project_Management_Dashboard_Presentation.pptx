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5087600" y="-914400"/>
            <a:ext cx="2743200" cy="2743200"/>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7772400"/>
            <a:ext cx="2286000" cy="228600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371600"/>
            <a:ext cx="14630400" cy="731520"/>
          </a:xfrm>
          <a:prstGeom prst="rect">
            <a:avLst/>
          </a:prstGeom>
          <a:noFill/>
        </p:spPr>
        <p:txBody>
          <a:bodyPr wrap="square">
            <a:spAutoFit/>
          </a:bodyPr>
          <a:lstStyle/>
          <a:p>
            <a:pPr algn="ctr"/>
            <a:r>
              <a:rPr sz="3700" b="0">
                <a:solidFill>
                  <a:srgbClr val="000000"/>
                </a:solidFill>
                <a:latin typeface="Times New Roman"/>
              </a:rPr>
              <a:t>RAGHU ENGINEERING COLLEGE</a:t>
            </a:r>
          </a:p>
        </p:txBody>
      </p:sp>
      <p:sp>
        <p:nvSpPr>
          <p:cNvPr id="5" name="TextBox 4"/>
          <p:cNvSpPr txBox="1"/>
          <p:nvPr/>
        </p:nvSpPr>
        <p:spPr>
          <a:xfrm>
            <a:off x="1371600" y="2286000"/>
            <a:ext cx="15544800" cy="548640"/>
          </a:xfrm>
          <a:prstGeom prst="rect">
            <a:avLst/>
          </a:prstGeom>
          <a:noFill/>
        </p:spPr>
        <p:txBody>
          <a:bodyPr wrap="square">
            <a:spAutoFit/>
          </a:bodyPr>
          <a:lstStyle/>
          <a:p>
            <a:pPr algn="ctr"/>
            <a:r>
              <a:rPr sz="3400" b="0">
                <a:solidFill>
                  <a:srgbClr val="000000"/>
                </a:solidFill>
                <a:latin typeface="Times New Roman"/>
              </a:rPr>
              <a:t>"COMPUTER SCIENCE AND ENGINEERING"</a:t>
            </a:r>
          </a:p>
        </p:txBody>
      </p:sp>
      <p:sp>
        <p:nvSpPr>
          <p:cNvPr id="6" name="TextBox 5"/>
          <p:cNvSpPr txBox="1"/>
          <p:nvPr/>
        </p:nvSpPr>
        <p:spPr>
          <a:xfrm>
            <a:off x="914400" y="3840480"/>
            <a:ext cx="16459200" cy="1645920"/>
          </a:xfrm>
          <a:prstGeom prst="rect">
            <a:avLst/>
          </a:prstGeom>
          <a:noFill/>
        </p:spPr>
        <p:txBody>
          <a:bodyPr wrap="square">
            <a:spAutoFit/>
          </a:bodyPr>
          <a:lstStyle/>
          <a:p>
            <a:pPr algn="ctr">
              <a:lnSpc>
                <a:spcPts val="5720"/>
              </a:lnSpc>
            </a:pPr>
            <a:r>
              <a:rPr sz="4400" b="0">
                <a:solidFill>
                  <a:srgbClr val="000000"/>
                </a:solidFill>
                <a:latin typeface="Times New Roman"/>
              </a:rPr>
              <a:t>Project Management Dashboard
with Interactive Gantt Chart Visualization System</a:t>
            </a:r>
          </a:p>
        </p:txBody>
      </p:sp>
      <p:sp>
        <p:nvSpPr>
          <p:cNvPr id="7" name="TextBox 6"/>
          <p:cNvSpPr txBox="1"/>
          <p:nvPr/>
        </p:nvSpPr>
        <p:spPr>
          <a:xfrm>
            <a:off x="3657600" y="5943600"/>
            <a:ext cx="10972800" cy="457200"/>
          </a:xfrm>
          <a:prstGeom prst="rect">
            <a:avLst/>
          </a:prstGeom>
          <a:noFill/>
        </p:spPr>
        <p:txBody>
          <a:bodyPr wrap="square">
            <a:spAutoFit/>
          </a:bodyPr>
          <a:lstStyle/>
          <a:p>
            <a:pPr algn="ctr"/>
            <a:r>
              <a:rPr sz="2000" b="0">
                <a:solidFill>
                  <a:srgbClr val="3C6CA8"/>
                </a:solidFill>
                <a:latin typeface="Times New Roman"/>
              </a:rPr>
              <a:t>Tech Stack: React.js | Node.js | Express.js | MongoDB | Chart.js | DHTMLX Gantt</a:t>
            </a:r>
          </a:p>
        </p:txBody>
      </p:sp>
      <p:sp>
        <p:nvSpPr>
          <p:cNvPr id="8" name="TextBox 7"/>
          <p:cNvSpPr txBox="1"/>
          <p:nvPr/>
        </p:nvSpPr>
        <p:spPr>
          <a:xfrm>
            <a:off x="914400" y="7315200"/>
            <a:ext cx="5486400" cy="1828800"/>
          </a:xfrm>
          <a:prstGeom prst="rect">
            <a:avLst/>
          </a:prstGeom>
          <a:noFill/>
        </p:spPr>
        <p:txBody>
          <a:bodyPr wrap="square">
            <a:spAutoFit/>
          </a:bodyPr>
          <a:lstStyle/>
          <a:p>
            <a:pPr algn="l"/>
            <a:r>
              <a:rPr sz="2000" b="0">
                <a:solidFill>
                  <a:srgbClr val="000000"/>
                </a:solidFill>
                <a:latin typeface="Times New Roman"/>
              </a:rPr>
              <a:t>BATCH - XX
Student 1 - Roll No
Student 2 - Roll No
Student 3 - Roll No</a:t>
            </a:r>
          </a:p>
        </p:txBody>
      </p:sp>
      <p:sp>
        <p:nvSpPr>
          <p:cNvPr id="9" name="TextBox 8"/>
          <p:cNvSpPr txBox="1"/>
          <p:nvPr/>
        </p:nvSpPr>
        <p:spPr>
          <a:xfrm>
            <a:off x="11887200" y="7315200"/>
            <a:ext cx="5486400" cy="1828800"/>
          </a:xfrm>
          <a:prstGeom prst="rect">
            <a:avLst/>
          </a:prstGeom>
          <a:noFill/>
        </p:spPr>
        <p:txBody>
          <a:bodyPr wrap="square">
            <a:spAutoFit/>
          </a:bodyPr>
          <a:lstStyle/>
          <a:p>
            <a:pPr algn="l"/>
            <a:r>
              <a:rPr sz="2000" b="0">
                <a:solidFill>
                  <a:srgbClr val="000000"/>
                </a:solidFill>
                <a:latin typeface="Times New Roman"/>
              </a:rPr>
              <a:t>Under the guidance
Mr./Ms. Faculty Name
CSE DEPARTMENT</a:t>
            </a:r>
          </a:p>
        </p:txBody>
      </p:sp>
      <p:sp>
        <p:nvSpPr>
          <p:cNvPr id="10" name="TextBox 9"/>
          <p:cNvSpPr txBox="1"/>
          <p:nvPr/>
        </p:nvSpPr>
        <p:spPr>
          <a:xfrm>
            <a:off x="914400" y="6583680"/>
            <a:ext cx="5486400" cy="457200"/>
          </a:xfrm>
          <a:prstGeom prst="rect">
            <a:avLst/>
          </a:prstGeom>
          <a:noFill/>
        </p:spPr>
        <p:txBody>
          <a:bodyPr wrap="square">
            <a:spAutoFit/>
          </a:bodyPr>
          <a:lstStyle/>
          <a:p>
            <a:pPr algn="l"/>
            <a:r>
              <a:rPr sz="2200" b="0">
                <a:solidFill>
                  <a:srgbClr val="3C6CA8"/>
                </a:solidFill>
                <a:latin typeface="Times New Roman"/>
              </a:rPr>
              <a:t>PRESENTED BY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14630400" cy="822960"/>
          </a:xfrm>
          <a:prstGeom prst="rect">
            <a:avLst/>
          </a:prstGeom>
          <a:noFill/>
        </p:spPr>
        <p:txBody>
          <a:bodyPr wrap="square">
            <a:spAutoFit/>
          </a:bodyPr>
          <a:lstStyle/>
          <a:p>
            <a:pPr algn="ctr"/>
            <a:r>
              <a:rPr sz="4800" b="0">
                <a:solidFill>
                  <a:srgbClr val="000000"/>
                </a:solidFill>
                <a:latin typeface="Times New Roman"/>
              </a:rPr>
              <a:t>TABLE OF CONTENTS</a:t>
            </a:r>
          </a:p>
        </p:txBody>
      </p:sp>
      <p:sp>
        <p:nvSpPr>
          <p:cNvPr id="3" name="TextBox 2"/>
          <p:cNvSpPr txBox="1"/>
          <p:nvPr/>
        </p:nvSpPr>
        <p:spPr>
          <a:xfrm>
            <a:off x="2743200" y="2011680"/>
            <a:ext cx="12801600" cy="6858000"/>
          </a:xfrm>
          <a:prstGeom prst="rect">
            <a:avLst/>
          </a:prstGeom>
          <a:noFill/>
        </p:spPr>
        <p:txBody>
          <a:bodyPr wrap="square">
            <a:spAutoFit/>
          </a:bodyPr>
          <a:lstStyle/>
          <a:p>
            <a:pPr>
              <a:spcBef>
                <a:spcPts val="400"/>
              </a:spcBef>
              <a:spcAft>
                <a:spcPts val="600"/>
              </a:spcAft>
            </a:pPr>
            <a:r>
              <a:rPr sz="2800" b="0">
                <a:solidFill>
                  <a:srgbClr val="251C23"/>
                </a:solidFill>
                <a:latin typeface="Times New Roman"/>
              </a:rPr>
              <a:t>• Abstract</a:t>
            </a:r>
          </a:p>
          <a:p>
            <a:pPr>
              <a:spcBef>
                <a:spcPts val="400"/>
              </a:spcBef>
              <a:spcAft>
                <a:spcPts val="600"/>
              </a:spcAft>
            </a:pPr>
            <a:r>
              <a:rPr sz="2800" b="0">
                <a:solidFill>
                  <a:srgbClr val="251C23"/>
                </a:solidFill>
                <a:latin typeface="Times New Roman"/>
              </a:rPr>
              <a:t>• Introduction</a:t>
            </a:r>
          </a:p>
          <a:p>
            <a:pPr>
              <a:spcBef>
                <a:spcPts val="400"/>
              </a:spcBef>
              <a:spcAft>
                <a:spcPts val="600"/>
              </a:spcAft>
            </a:pPr>
            <a:r>
              <a:rPr sz="2800" b="0">
                <a:solidFill>
                  <a:srgbClr val="251C23"/>
                </a:solidFill>
                <a:latin typeface="Times New Roman"/>
              </a:rPr>
              <a:t>• Problem Statement</a:t>
            </a:r>
          </a:p>
          <a:p>
            <a:pPr>
              <a:spcBef>
                <a:spcPts val="400"/>
              </a:spcBef>
              <a:spcAft>
                <a:spcPts val="600"/>
              </a:spcAft>
            </a:pPr>
            <a:r>
              <a:rPr sz="2800" b="0">
                <a:solidFill>
                  <a:srgbClr val="251C23"/>
                </a:solidFill>
                <a:latin typeface="Times New Roman"/>
              </a:rPr>
              <a:t>• Existing System</a:t>
            </a:r>
          </a:p>
          <a:p>
            <a:pPr>
              <a:spcBef>
                <a:spcPts val="400"/>
              </a:spcBef>
              <a:spcAft>
                <a:spcPts val="600"/>
              </a:spcAft>
            </a:pPr>
            <a:r>
              <a:rPr sz="2800" b="0">
                <a:solidFill>
                  <a:srgbClr val="251C23"/>
                </a:solidFill>
                <a:latin typeface="Times New Roman"/>
              </a:rPr>
              <a:t>• Proposed System</a:t>
            </a:r>
          </a:p>
          <a:p>
            <a:pPr>
              <a:spcBef>
                <a:spcPts val="400"/>
              </a:spcBef>
              <a:spcAft>
                <a:spcPts val="600"/>
              </a:spcAft>
            </a:pPr>
            <a:r>
              <a:rPr sz="2800" b="0">
                <a:solidFill>
                  <a:srgbClr val="251C23"/>
                </a:solidFill>
                <a:latin typeface="Times New Roman"/>
              </a:rPr>
              <a:t>• Proposed Vs Existing System</a:t>
            </a:r>
          </a:p>
          <a:p>
            <a:pPr>
              <a:spcBef>
                <a:spcPts val="400"/>
              </a:spcBef>
              <a:spcAft>
                <a:spcPts val="600"/>
              </a:spcAft>
            </a:pPr>
            <a:r>
              <a:rPr sz="2800" b="0">
                <a:solidFill>
                  <a:srgbClr val="251C23"/>
                </a:solidFill>
                <a:latin typeface="Times New Roman"/>
              </a:rPr>
              <a:t>• System Architecture</a:t>
            </a:r>
          </a:p>
          <a:p>
            <a:pPr>
              <a:spcBef>
                <a:spcPts val="400"/>
              </a:spcBef>
              <a:spcAft>
                <a:spcPts val="600"/>
              </a:spcAft>
            </a:pPr>
            <a:r>
              <a:rPr sz="2800" b="0">
                <a:solidFill>
                  <a:srgbClr val="251C23"/>
                </a:solidFill>
                <a:latin typeface="Times New Roman"/>
              </a:rPr>
              <a:t>• UML Diagrams</a:t>
            </a:r>
          </a:p>
          <a:p>
            <a:pPr>
              <a:spcBef>
                <a:spcPts val="400"/>
              </a:spcBef>
              <a:spcAft>
                <a:spcPts val="600"/>
              </a:spcAft>
            </a:pPr>
            <a:r>
              <a:rPr sz="2800" b="0">
                <a:solidFill>
                  <a:srgbClr val="251C23"/>
                </a:solidFill>
                <a:latin typeface="Times New Roman"/>
              </a:rPr>
              <a:t>• Modules &amp; Key Features</a:t>
            </a:r>
          </a:p>
          <a:p>
            <a:pPr>
              <a:spcBef>
                <a:spcPts val="400"/>
              </a:spcBef>
              <a:spcAft>
                <a:spcPts val="600"/>
              </a:spcAft>
            </a:pPr>
            <a:r>
              <a:rPr sz="2800" b="0">
                <a:solidFill>
                  <a:srgbClr val="251C23"/>
                </a:solidFill>
                <a:latin typeface="Times New Roman"/>
              </a:rPr>
              <a:t>• API Endpoints</a:t>
            </a:r>
          </a:p>
          <a:p>
            <a:pPr>
              <a:spcBef>
                <a:spcPts val="400"/>
              </a:spcBef>
              <a:spcAft>
                <a:spcPts val="600"/>
              </a:spcAft>
            </a:pPr>
            <a:r>
              <a:rPr sz="2800" b="0">
                <a:solidFill>
                  <a:srgbClr val="251C23"/>
                </a:solidFill>
                <a:latin typeface="Times New Roman"/>
              </a:rPr>
              <a:t>• Technology Stack</a:t>
            </a:r>
          </a:p>
          <a:p>
            <a:pPr>
              <a:spcBef>
                <a:spcPts val="400"/>
              </a:spcBef>
              <a:spcAft>
                <a:spcPts val="600"/>
              </a:spcAft>
            </a:pPr>
            <a:r>
              <a:rPr sz="2800" b="0">
                <a:solidFill>
                  <a:srgbClr val="251C23"/>
                </a:solidFill>
                <a:latin typeface="Times New Roman"/>
              </a:rPr>
              <a:t>• Authentication System</a:t>
            </a:r>
          </a:p>
          <a:p>
            <a:pPr>
              <a:spcBef>
                <a:spcPts val="400"/>
              </a:spcBef>
              <a:spcAft>
                <a:spcPts val="600"/>
              </a:spcAft>
            </a:pPr>
            <a:r>
              <a:rPr sz="2800" b="0">
                <a:solidFill>
                  <a:srgbClr val="251C23"/>
                </a:solidFill>
                <a:latin typeface="Times New Roman"/>
              </a:rPr>
              <a:t>• Results &amp; Screenshots</a:t>
            </a:r>
          </a:p>
          <a:p>
            <a:pPr>
              <a:spcBef>
                <a:spcPts val="400"/>
              </a:spcBef>
              <a:spcAft>
                <a:spcPts val="600"/>
              </a:spcAft>
            </a:pPr>
            <a:r>
              <a:rPr sz="2800" b="0">
                <a:solidFill>
                  <a:srgbClr val="251C23"/>
                </a:solidFill>
                <a:latin typeface="Times New Roman"/>
              </a:rPr>
              <a:t>• Future Enhancements</a:t>
            </a:r>
          </a:p>
          <a:p>
            <a:pPr>
              <a:spcBef>
                <a:spcPts val="400"/>
              </a:spcBef>
              <a:spcAft>
                <a:spcPts val="600"/>
              </a:spcAft>
            </a:pPr>
            <a:r>
              <a:rPr sz="2800" b="0">
                <a:solidFill>
                  <a:srgbClr val="251C23"/>
                </a:solidFill>
                <a:latin typeface="Times New Roman"/>
              </a:rPr>
              <a:t>•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ABSTRACT</a:t>
            </a:r>
          </a:p>
        </p:txBody>
      </p:sp>
      <p:sp>
        <p:nvSpPr>
          <p:cNvPr id="3" name="TextBox 2"/>
          <p:cNvSpPr txBox="1"/>
          <p:nvPr/>
        </p:nvSpPr>
        <p:spPr>
          <a:xfrm>
            <a:off x="914400" y="2011680"/>
            <a:ext cx="16002000" cy="6400800"/>
          </a:xfrm>
          <a:prstGeom prst="rect">
            <a:avLst/>
          </a:prstGeom>
          <a:noFill/>
        </p:spPr>
        <p:txBody>
          <a:bodyPr wrap="square">
            <a:spAutoFit/>
          </a:bodyPr>
          <a:lstStyle/>
          <a:p>
            <a:pPr algn="l">
              <a:lnSpc>
                <a:spcPts val="4480"/>
              </a:lnSpc>
            </a:pPr>
            <a:r>
              <a:rPr sz="3200" b="0">
                <a:solidFill>
                  <a:srgbClr val="000000"/>
                </a:solidFill>
                <a:latin typeface="Times New Roman"/>
              </a:rPr>
              <a:t>Managing multiple projects, tasks, and resources efficiently is challenging without proper visualization and tracking tools. Traditional approaches rely on spreadsheets, emails, and standalone desktop software, leading to data silos, lack of real-time visibility, and poor collaboration.
This project presents a comprehensive, full-stack Project Management Dashboard with Interactive Gantt Chart Visualization, built using the MERN stack (MongoDB, Express.js, React.js, Node.js). The system provides a centralized web-based platform for creating and tracking projects, managing tasks with dependencies and milestones, allocating resources, and visualizing project timelines through interactive Gantt charts.
Key features include a real-time analytics dashboard with KPI cards and charts, drag-and-drop Gantt scheduling, automated project completion calculation, resource utilization tracking, JWT-based authentication with OTP password reset, email notifications via Nodemailer, and a fully responsive user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INTRODUCTION</a:t>
            </a:r>
          </a:p>
        </p:txBody>
      </p:sp>
      <p:sp>
        <p:nvSpPr>
          <p:cNvPr id="3" name="TextBox 2"/>
          <p:cNvSpPr txBox="1"/>
          <p:nvPr/>
        </p:nvSpPr>
        <p:spPr>
          <a:xfrm>
            <a:off x="914400" y="2011680"/>
            <a:ext cx="16002000" cy="6400800"/>
          </a:xfrm>
          <a:prstGeom prst="rect">
            <a:avLst/>
          </a:prstGeom>
          <a:noFill/>
        </p:spPr>
        <p:txBody>
          <a:bodyPr wrap="square">
            <a:spAutoFit/>
          </a:bodyPr>
          <a:lstStyle/>
          <a:p>
            <a:pPr algn="l">
              <a:lnSpc>
                <a:spcPts val="4480"/>
              </a:lnSpc>
            </a:pPr>
            <a:r>
              <a:rPr sz="3200" b="0">
                <a:solidFill>
                  <a:srgbClr val="000000"/>
                </a:solidFill>
                <a:latin typeface="Times New Roman"/>
              </a:rPr>
              <a:t>In today's fast-paced business environment, organizations manage multiple projects simultaneously across diverse teams and departments. The ability to track progress, allocate resources efficiently, and meet deadlines is critical for organizational success.
Without centralized tools, project data becomes scattered across spreadsheets, emails, and disconnected systems, leading to poor decision-making and missed deadlines. Project managers need a single platform that provides real-time visibility into project health, task status, resource utilization, and timeline visualization.
This project addresses these challenges by building a modern, web-based Project Management Dashboard using the MERN stack (MongoDB, Express.js, React.js, Node.js) with interactive Gantt chart visualization, comprehensive authentication, and real-time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PROBLEM STATEMENT</a:t>
            </a:r>
          </a:p>
        </p:txBody>
      </p:sp>
      <p:sp>
        <p:nvSpPr>
          <p:cNvPr id="3" name="TextBox 2"/>
          <p:cNvSpPr txBox="1"/>
          <p:nvPr/>
        </p:nvSpPr>
        <p:spPr>
          <a:xfrm>
            <a:off x="914400" y="2011680"/>
            <a:ext cx="16002000" cy="6400800"/>
          </a:xfrm>
          <a:prstGeom prst="rect">
            <a:avLst/>
          </a:prstGeom>
          <a:noFill/>
        </p:spPr>
        <p:txBody>
          <a:bodyPr wrap="square">
            <a:spAutoFit/>
          </a:bodyPr>
          <a:lstStyle/>
          <a:p>
            <a:pPr algn="l">
              <a:lnSpc>
                <a:spcPts val="3780"/>
              </a:lnSpc>
            </a:pPr>
            <a:r>
              <a:rPr sz="2800" b="0">
                <a:solidFill>
                  <a:srgbClr val="000000"/>
                </a:solidFill>
                <a:latin typeface="Times New Roman"/>
              </a:rPr>
              <a:t>Organizations managing multiple projects face several critical challenges:
• No centralized data — project information is scattered across files, spreadsheets, and emails
• No real-time visibility — decisions are based on outdated information from manual reports
• Manual progress tracking — error-prone and time-consuming status updates
• No task dependency modeling — schedule impacts from delays are invisible
• Poor resource management — no automated workload tracking or utilization metrics
• Static Gantt charts — Excel-based timelines with no drag-and-drop rescheduling
• No authentication or access control — anyone with the file can modify project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Existing System</a:t>
            </a:r>
          </a:p>
        </p:txBody>
      </p:sp>
      <p:sp>
        <p:nvSpPr>
          <p:cNvPr id="3" name="TextBox 2"/>
          <p:cNvSpPr txBox="1"/>
          <p:nvPr/>
        </p:nvSpPr>
        <p:spPr>
          <a:xfrm>
            <a:off x="731520" y="2011680"/>
            <a:ext cx="15544800" cy="6858000"/>
          </a:xfrm>
          <a:prstGeom prst="rect">
            <a:avLst/>
          </a:prstGeom>
          <a:noFill/>
        </p:spPr>
        <p:txBody>
          <a:bodyPr wrap="square">
            <a:spAutoFit/>
          </a:bodyPr>
          <a:lstStyle/>
          <a:p>
            <a:pPr>
              <a:spcBef>
                <a:spcPts val="400"/>
              </a:spcBef>
              <a:spcAft>
                <a:spcPts val="600"/>
              </a:spcAft>
            </a:pPr>
            <a:r>
              <a:rPr sz="2600" b="1">
                <a:solidFill>
                  <a:srgbClr val="251C23"/>
                </a:solidFill>
                <a:latin typeface="Times New Roman"/>
              </a:rPr>
              <a:t>• Spreadsheets (Excel):</a:t>
            </a:r>
            <a:r>
              <a:rPr sz="2600" b="0">
                <a:solidFill>
                  <a:srgbClr val="251C23"/>
                </a:solidFill>
                <a:latin typeface="Times New Roman"/>
              </a:rPr>
              <a:t> Project timelines and task lists in disconnected files with no real-time collaboration</a:t>
            </a:r>
          </a:p>
          <a:p>
            <a:pPr>
              <a:spcBef>
                <a:spcPts val="400"/>
              </a:spcBef>
              <a:spcAft>
                <a:spcPts val="600"/>
              </a:spcAft>
            </a:pPr>
            <a:r>
              <a:rPr sz="2600" b="1">
                <a:solidFill>
                  <a:srgbClr val="251C23"/>
                </a:solidFill>
                <a:latin typeface="Times New Roman"/>
              </a:rPr>
              <a:t>• Email-Based Tracking:</a:t>
            </a:r>
            <a:r>
              <a:rPr sz="2600" b="0">
                <a:solidFill>
                  <a:srgbClr val="251C23"/>
                </a:solidFill>
                <a:latin typeface="Times New Roman"/>
              </a:rPr>
              <a:t> Project updates circulated via email threads with information loss and no centralized view</a:t>
            </a:r>
          </a:p>
          <a:p>
            <a:pPr>
              <a:spcBef>
                <a:spcPts val="400"/>
              </a:spcBef>
              <a:spcAft>
                <a:spcPts val="600"/>
              </a:spcAft>
            </a:pPr>
            <a:r>
              <a:rPr sz="2600" b="1">
                <a:solidFill>
                  <a:srgbClr val="251C23"/>
                </a:solidFill>
                <a:latin typeface="Times New Roman"/>
              </a:rPr>
              <a:t>• Desktop Tools (MS Project):</a:t>
            </a:r>
            <a:r>
              <a:rPr sz="2600" b="0">
                <a:solidFill>
                  <a:srgbClr val="251C23"/>
                </a:solidFill>
                <a:latin typeface="Times New Roman"/>
              </a:rPr>
              <a:t> Standalone tools without real-time collaboration or web access</a:t>
            </a:r>
          </a:p>
          <a:p>
            <a:pPr>
              <a:spcBef>
                <a:spcPts val="400"/>
              </a:spcBef>
              <a:spcAft>
                <a:spcPts val="600"/>
              </a:spcAft>
            </a:pPr>
            <a:r>
              <a:rPr sz="2600" b="1">
                <a:solidFill>
                  <a:srgbClr val="251C23"/>
                </a:solidFill>
                <a:latin typeface="Times New Roman"/>
              </a:rPr>
              <a:t>• Physical Whiteboards:</a:t>
            </a:r>
            <a:r>
              <a:rPr sz="2600" b="0">
                <a:solidFill>
                  <a:srgbClr val="251C23"/>
                </a:solidFill>
                <a:latin typeface="Times New Roman"/>
              </a:rPr>
              <a:t> Sticky notes and printed Gantt charts that cannot be shared digitally</a:t>
            </a:r>
          </a:p>
          <a:p>
            <a:pPr>
              <a:spcBef>
                <a:spcPts val="400"/>
              </a:spcBef>
              <a:spcAft>
                <a:spcPts val="600"/>
              </a:spcAft>
            </a:pPr>
            <a:r>
              <a:rPr sz="2600" b="1">
                <a:solidFill>
                  <a:srgbClr val="251C23"/>
                </a:solidFill>
                <a:latin typeface="Times New Roman"/>
              </a:rPr>
              <a:t>• No Authentication:</a:t>
            </a:r>
            <a:r>
              <a:rPr sz="2600" b="0">
                <a:solidFill>
                  <a:srgbClr val="251C23"/>
                </a:solidFill>
                <a:latin typeface="Times New Roman"/>
              </a:rPr>
              <a:t> File sharing with basic permissions — no role-based access control</a:t>
            </a:r>
          </a:p>
          <a:p>
            <a:pPr>
              <a:spcBef>
                <a:spcPts val="400"/>
              </a:spcBef>
              <a:spcAft>
                <a:spcPts val="600"/>
              </a:spcAft>
            </a:pPr>
            <a:r>
              <a:rPr sz="2600" b="1">
                <a:solidFill>
                  <a:srgbClr val="251C23"/>
                </a:solidFill>
                <a:latin typeface="Times New Roman"/>
              </a:rPr>
              <a:t>• Manual Calculations:</a:t>
            </a:r>
            <a:r>
              <a:rPr sz="2600" b="0">
                <a:solidFill>
                  <a:srgbClr val="251C23"/>
                </a:solidFill>
                <a:latin typeface="Times New Roman"/>
              </a:rPr>
              <a:t> Progress percentages and resource utilization computed by hand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Proposed System</a:t>
            </a:r>
          </a:p>
        </p:txBody>
      </p:sp>
      <p:sp>
        <p:nvSpPr>
          <p:cNvPr id="3" name="TextBox 2"/>
          <p:cNvSpPr txBox="1"/>
          <p:nvPr/>
        </p:nvSpPr>
        <p:spPr>
          <a:xfrm>
            <a:off x="914400" y="1828800"/>
            <a:ext cx="16002000" cy="1371600"/>
          </a:xfrm>
          <a:prstGeom prst="rect">
            <a:avLst/>
          </a:prstGeom>
          <a:noFill/>
        </p:spPr>
        <p:txBody>
          <a:bodyPr wrap="square">
            <a:spAutoFit/>
          </a:bodyPr>
          <a:lstStyle/>
          <a:p>
            <a:pPr algn="l">
              <a:lnSpc>
                <a:spcPts val="4200"/>
              </a:lnSpc>
            </a:pPr>
            <a:r>
              <a:rPr sz="2800" b="0">
                <a:solidFill>
                  <a:srgbClr val="000000"/>
                </a:solidFill>
                <a:latin typeface="Times New Roman"/>
              </a:rPr>
              <a:t>A full-stack MERN web application providing a centralized, real-time platform for managing projects, tasks, resources, and timelines — replacing manual workflows with automated, interactive features.
</a:t>
            </a:r>
          </a:p>
        </p:txBody>
      </p:sp>
      <p:sp>
        <p:nvSpPr>
          <p:cNvPr id="4" name="TextBox 3"/>
          <p:cNvSpPr txBox="1"/>
          <p:nvPr/>
        </p:nvSpPr>
        <p:spPr>
          <a:xfrm>
            <a:off x="731520" y="3291840"/>
            <a:ext cx="15544800" cy="5486400"/>
          </a:xfrm>
          <a:prstGeom prst="rect">
            <a:avLst/>
          </a:prstGeom>
          <a:noFill/>
        </p:spPr>
        <p:txBody>
          <a:bodyPr wrap="square">
            <a:spAutoFit/>
          </a:bodyPr>
          <a:lstStyle/>
          <a:p>
            <a:pPr>
              <a:spcBef>
                <a:spcPts val="400"/>
              </a:spcBef>
              <a:spcAft>
                <a:spcPts val="600"/>
              </a:spcAft>
            </a:pPr>
            <a:r>
              <a:rPr sz="2400" b="1">
                <a:solidFill>
                  <a:srgbClr val="251C23"/>
                </a:solidFill>
                <a:latin typeface="Times New Roman"/>
              </a:rPr>
              <a:t>• Dashboard:</a:t>
            </a:r>
            <a:r>
              <a:rPr sz="2400" b="0">
                <a:solidFill>
                  <a:srgbClr val="251C23"/>
                </a:solidFill>
                <a:latin typeface="Times New Roman"/>
              </a:rPr>
              <a:t> Real-time KPI cards, Chart.js visualizations, activity feed and upcoming deadlines</a:t>
            </a:r>
          </a:p>
          <a:p>
            <a:pPr>
              <a:spcBef>
                <a:spcPts val="400"/>
              </a:spcBef>
              <a:spcAft>
                <a:spcPts val="600"/>
              </a:spcAft>
            </a:pPr>
            <a:r>
              <a:rPr sz="2400" b="1">
                <a:solidFill>
                  <a:srgbClr val="251C23"/>
                </a:solidFill>
                <a:latin typeface="Times New Roman"/>
              </a:rPr>
              <a:t>• Project Management:</a:t>
            </a:r>
            <a:r>
              <a:rPr sz="2400" b="0">
                <a:solidFill>
                  <a:srgbClr val="251C23"/>
                </a:solidFill>
                <a:latin typeface="Times New Roman"/>
              </a:rPr>
              <a:t> Full CRUD operations, search/filter/sort/paginate, auto-delay detection</a:t>
            </a:r>
          </a:p>
          <a:p>
            <a:pPr>
              <a:spcBef>
                <a:spcPts val="400"/>
              </a:spcBef>
              <a:spcAft>
                <a:spcPts val="600"/>
              </a:spcAft>
            </a:pPr>
            <a:r>
              <a:rPr sz="2400" b="1">
                <a:solidFill>
                  <a:srgbClr val="251C23"/>
                </a:solidFill>
                <a:latin typeface="Times New Roman"/>
              </a:rPr>
              <a:t>• Task Management:</a:t>
            </a:r>
            <a:r>
              <a:rPr sz="2400" b="0">
                <a:solidFill>
                  <a:srgbClr val="251C23"/>
                </a:solidFill>
                <a:latin typeface="Times New Roman"/>
              </a:rPr>
              <a:t> Dependencies and milestones, resource assignment, progress tracking</a:t>
            </a:r>
          </a:p>
          <a:p>
            <a:pPr>
              <a:spcBef>
                <a:spcPts val="400"/>
              </a:spcBef>
              <a:spcAft>
                <a:spcPts val="600"/>
              </a:spcAft>
            </a:pPr>
            <a:r>
              <a:rPr sz="2400" b="1">
                <a:solidFill>
                  <a:srgbClr val="251C23"/>
                </a:solidFill>
                <a:latin typeface="Times New Roman"/>
              </a:rPr>
              <a:t>• Gantt Chart:</a:t>
            </a:r>
            <a:r>
              <a:rPr sz="2400" b="0">
                <a:solidFill>
                  <a:srgbClr val="251C23"/>
                </a:solidFill>
                <a:latin typeface="Times New Roman"/>
              </a:rPr>
              <a:t> Drag-and-drop scheduling with dhtmlx-gantt library, zoom levels and dependency arrows</a:t>
            </a:r>
          </a:p>
          <a:p>
            <a:pPr>
              <a:spcBef>
                <a:spcPts val="400"/>
              </a:spcBef>
              <a:spcAft>
                <a:spcPts val="600"/>
              </a:spcAft>
            </a:pPr>
            <a:r>
              <a:rPr sz="2400" b="1">
                <a:solidFill>
                  <a:srgbClr val="251C23"/>
                </a:solidFill>
                <a:latin typeface="Times New Roman"/>
              </a:rPr>
              <a:t>• Resource Management:</a:t>
            </a:r>
            <a:r>
              <a:rPr sz="2400" b="0">
                <a:solidFill>
                  <a:srgbClr val="251C23"/>
                </a:solidFill>
                <a:latin typeface="Times New Roman"/>
              </a:rPr>
              <a:t> Workload utilization tracking, skills and availability, auto-computed metrics</a:t>
            </a:r>
          </a:p>
          <a:p>
            <a:pPr>
              <a:spcBef>
                <a:spcPts val="400"/>
              </a:spcBef>
              <a:spcAft>
                <a:spcPts val="600"/>
              </a:spcAft>
            </a:pPr>
            <a:r>
              <a:rPr sz="2400" b="1">
                <a:solidFill>
                  <a:srgbClr val="251C23"/>
                </a:solidFill>
                <a:latin typeface="Times New Roman"/>
              </a:rPr>
              <a:t>• Authentication:</a:t>
            </a:r>
            <a:r>
              <a:rPr sz="2400" b="0">
                <a:solidFill>
                  <a:srgbClr val="251C23"/>
                </a:solidFill>
                <a:latin typeface="Times New Roman"/>
              </a:rPr>
              <a:t> JWT token-based auth, bcrypt password hashing, OTP-based password reset via email</a:t>
            </a:r>
          </a:p>
          <a:p>
            <a:pPr>
              <a:spcBef>
                <a:spcPts val="400"/>
              </a:spcBef>
              <a:spcAft>
                <a:spcPts val="600"/>
              </a:spcAft>
            </a:pPr>
            <a:r>
              <a:rPr sz="2400" b="1">
                <a:solidFill>
                  <a:srgbClr val="251C23"/>
                </a:solidFill>
                <a:latin typeface="Times New Roman"/>
              </a:rPr>
              <a:t>• Email Service:</a:t>
            </a:r>
            <a:r>
              <a:rPr sz="2400" b="0">
                <a:solidFill>
                  <a:srgbClr val="251C23"/>
                </a:solidFill>
                <a:latin typeface="Times New Roman"/>
              </a:rPr>
              <a:t> Nodemailer with Ethereal test accounts and W3.css HTML email templates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Proposed System Vs Existing System</a:t>
            </a:r>
          </a:p>
        </p:txBody>
      </p:sp>
      <p:graphicFrame>
        <p:nvGraphicFramePr>
          <p:cNvPr id="3" name="Table 2"/>
          <p:cNvGraphicFramePr>
            <a:graphicFrameLocks noGrp="1"/>
          </p:cNvGraphicFramePr>
          <p:nvPr/>
        </p:nvGraphicFramePr>
        <p:xfrm>
          <a:off x="914400" y="1828800"/>
          <a:ext cx="15087600" cy="6858000"/>
        </p:xfrm>
        <a:graphic>
          <a:graphicData uri="http://schemas.openxmlformats.org/drawingml/2006/table">
            <a:tbl>
              <a:tblPr firstRow="1" bandRow="1">
                <a:tableStyleId>{5C22544A-7EE6-4342-B048-85BDC9FD1C3A}</a:tableStyleId>
              </a:tblPr>
              <a:tblGrid>
                <a:gridCol w="3200400"/>
                <a:gridCol w="5943600"/>
                <a:gridCol w="5943600"/>
              </a:tblGrid>
              <a:tr h="623454">
                <a:tc>
                  <a:txBody>
                    <a:bodyPr/>
                    <a:lstStyle/>
                    <a:p>
                      <a:pPr>
                        <a:defRPr sz="2000" b="1">
                          <a:solidFill>
                            <a:srgbClr val="FFFFFF"/>
                          </a:solidFill>
                          <a:latin typeface="Times New Roman"/>
                        </a:defRPr>
                      </a:pPr>
                      <a:r>
                        <a:t>Feature</a:t>
                      </a:r>
                    </a:p>
                  </a:txBody>
                  <a:tcPr>
                    <a:solidFill>
                      <a:srgbClr val="1E3A5F"/>
                    </a:solidFill>
                  </a:tcPr>
                </a:tc>
                <a:tc>
                  <a:txBody>
                    <a:bodyPr/>
                    <a:lstStyle/>
                    <a:p>
                      <a:pPr>
                        <a:defRPr sz="2000" b="1">
                          <a:solidFill>
                            <a:srgbClr val="FFFFFF"/>
                          </a:solidFill>
                          <a:latin typeface="Times New Roman"/>
                        </a:defRPr>
                      </a:pPr>
                      <a:r>
                        <a:t>Existing System</a:t>
                      </a:r>
                    </a:p>
                  </a:txBody>
                  <a:tcPr>
                    <a:solidFill>
                      <a:srgbClr val="1E3A5F"/>
                    </a:solidFill>
                  </a:tcPr>
                </a:tc>
                <a:tc>
                  <a:txBody>
                    <a:bodyPr/>
                    <a:lstStyle/>
                    <a:p>
                      <a:pPr>
                        <a:defRPr sz="2000" b="1">
                          <a:solidFill>
                            <a:srgbClr val="FFFFFF"/>
                          </a:solidFill>
                          <a:latin typeface="Times New Roman"/>
                        </a:defRPr>
                      </a:pPr>
                      <a:r>
                        <a:t>Proposed System</a:t>
                      </a:r>
                    </a:p>
                  </a:txBody>
                  <a:tcPr>
                    <a:solidFill>
                      <a:srgbClr val="1E3A5F"/>
                    </a:solidFill>
                  </a:tcPr>
                </a:tc>
              </a:tr>
              <a:tr h="623454">
                <a:tc>
                  <a:txBody>
                    <a:bodyPr/>
                    <a:lstStyle/>
                    <a:p>
                      <a:pPr>
                        <a:defRPr sz="1800">
                          <a:solidFill>
                            <a:srgbClr val="251C23"/>
                          </a:solidFill>
                          <a:latin typeface="Times New Roman"/>
                        </a:defRPr>
                      </a:pPr>
                      <a:r>
                        <a:t>Data Storage</a:t>
                      </a:r>
                    </a:p>
                  </a:txBody>
                  <a:tcPr/>
                </a:tc>
                <a:tc>
                  <a:txBody>
                    <a:bodyPr/>
                    <a:lstStyle/>
                    <a:p>
                      <a:pPr>
                        <a:defRPr sz="1800">
                          <a:solidFill>
                            <a:srgbClr val="251C23"/>
                          </a:solidFill>
                          <a:latin typeface="Times New Roman"/>
                        </a:defRPr>
                      </a:pPr>
                      <a:r>
                        <a:t>Scattered files &amp; spreadsheets</a:t>
                      </a:r>
                    </a:p>
                  </a:txBody>
                  <a:tcPr/>
                </a:tc>
                <a:tc>
                  <a:txBody>
                    <a:bodyPr/>
                    <a:lstStyle/>
                    <a:p>
                      <a:pPr>
                        <a:defRPr sz="1800">
                          <a:solidFill>
                            <a:srgbClr val="251C23"/>
                          </a:solidFill>
                          <a:latin typeface="Times New Roman"/>
                        </a:defRPr>
                      </a:pPr>
                      <a:r>
                        <a:t>Centralized MongoDB database</a:t>
                      </a:r>
                    </a:p>
                  </a:txBody>
                  <a:tcPr/>
                </a:tc>
              </a:tr>
              <a:tr h="623454">
                <a:tc>
                  <a:txBody>
                    <a:bodyPr/>
                    <a:lstStyle/>
                    <a:p>
                      <a:pPr>
                        <a:defRPr sz="1800">
                          <a:solidFill>
                            <a:srgbClr val="251C23"/>
                          </a:solidFill>
                          <a:latin typeface="Times New Roman"/>
                        </a:defRPr>
                      </a:pPr>
                      <a:r>
                        <a:t>Real-Time Updates</a:t>
                      </a:r>
                    </a:p>
                  </a:txBody>
                  <a:tcPr>
                    <a:solidFill>
                      <a:srgbClr val="F0F0F0"/>
                    </a:solidFill>
                  </a:tcPr>
                </a:tc>
                <a:tc>
                  <a:txBody>
                    <a:bodyPr/>
                    <a:lstStyle/>
                    <a:p>
                      <a:pPr>
                        <a:defRPr sz="1800">
                          <a:solidFill>
                            <a:srgbClr val="251C23"/>
                          </a:solidFill>
                          <a:latin typeface="Times New Roman"/>
                        </a:defRPr>
                      </a:pPr>
                      <a:r>
                        <a:t>None</a:t>
                      </a:r>
                    </a:p>
                  </a:txBody>
                  <a:tcPr>
                    <a:solidFill>
                      <a:srgbClr val="F0F0F0"/>
                    </a:solidFill>
                  </a:tcPr>
                </a:tc>
                <a:tc>
                  <a:txBody>
                    <a:bodyPr/>
                    <a:lstStyle/>
                    <a:p>
                      <a:pPr>
                        <a:defRPr sz="1800">
                          <a:solidFill>
                            <a:srgbClr val="251C23"/>
                          </a:solidFill>
                          <a:latin typeface="Times New Roman"/>
                        </a:defRPr>
                      </a:pPr>
                      <a:r>
                        <a:t>Instant via REST API</a:t>
                      </a:r>
                    </a:p>
                  </a:txBody>
                  <a:tcPr>
                    <a:solidFill>
                      <a:srgbClr val="F0F0F0"/>
                    </a:solidFill>
                  </a:tcPr>
                </a:tc>
              </a:tr>
              <a:tr h="623454">
                <a:tc>
                  <a:txBody>
                    <a:bodyPr/>
                    <a:lstStyle/>
                    <a:p>
                      <a:pPr>
                        <a:defRPr sz="1800">
                          <a:solidFill>
                            <a:srgbClr val="251C23"/>
                          </a:solidFill>
                          <a:latin typeface="Times New Roman"/>
                        </a:defRPr>
                      </a:pPr>
                      <a:r>
                        <a:t>Gantt Charts</a:t>
                      </a:r>
                    </a:p>
                  </a:txBody>
                  <a:tcPr/>
                </a:tc>
                <a:tc>
                  <a:txBody>
                    <a:bodyPr/>
                    <a:lstStyle/>
                    <a:p>
                      <a:pPr>
                        <a:defRPr sz="1800">
                          <a:solidFill>
                            <a:srgbClr val="251C23"/>
                          </a:solidFill>
                          <a:latin typeface="Times New Roman"/>
                        </a:defRPr>
                      </a:pPr>
                      <a:r>
                        <a:t>Static (Excel)</a:t>
                      </a:r>
                    </a:p>
                  </a:txBody>
                  <a:tcPr/>
                </a:tc>
                <a:tc>
                  <a:txBody>
                    <a:bodyPr/>
                    <a:lstStyle/>
                    <a:p>
                      <a:pPr>
                        <a:defRPr sz="1800">
                          <a:solidFill>
                            <a:srgbClr val="251C23"/>
                          </a:solidFill>
                          <a:latin typeface="Times New Roman"/>
                        </a:defRPr>
                      </a:pPr>
                      <a:r>
                        <a:t>Interactive drag-and-drop</a:t>
                      </a:r>
                    </a:p>
                  </a:txBody>
                  <a:tcPr/>
                </a:tc>
              </a:tr>
              <a:tr h="623454">
                <a:tc>
                  <a:txBody>
                    <a:bodyPr/>
                    <a:lstStyle/>
                    <a:p>
                      <a:pPr>
                        <a:defRPr sz="1800">
                          <a:solidFill>
                            <a:srgbClr val="251C23"/>
                          </a:solidFill>
                          <a:latin typeface="Times New Roman"/>
                        </a:defRPr>
                      </a:pPr>
                      <a:r>
                        <a:t>Task Dependencies</a:t>
                      </a:r>
                    </a:p>
                  </a:txBody>
                  <a:tcPr>
                    <a:solidFill>
                      <a:srgbClr val="F0F0F0"/>
                    </a:solidFill>
                  </a:tcPr>
                </a:tc>
                <a:tc>
                  <a:txBody>
                    <a:bodyPr/>
                    <a:lstStyle/>
                    <a:p>
                      <a:pPr>
                        <a:defRPr sz="1800">
                          <a:solidFill>
                            <a:srgbClr val="251C23"/>
                          </a:solidFill>
                          <a:latin typeface="Times New Roman"/>
                        </a:defRPr>
                      </a:pPr>
                      <a:r>
                        <a:t>Not tracked</a:t>
                      </a:r>
                    </a:p>
                  </a:txBody>
                  <a:tcPr>
                    <a:solidFill>
                      <a:srgbClr val="F0F0F0"/>
                    </a:solidFill>
                  </a:tcPr>
                </a:tc>
                <a:tc>
                  <a:txBody>
                    <a:bodyPr/>
                    <a:lstStyle/>
                    <a:p>
                      <a:pPr>
                        <a:defRPr sz="1800">
                          <a:solidFill>
                            <a:srgbClr val="251C23"/>
                          </a:solidFill>
                          <a:latin typeface="Times New Roman"/>
                        </a:defRPr>
                      </a:pPr>
                      <a:r>
                        <a:t>Modeled &amp; visualized</a:t>
                      </a:r>
                    </a:p>
                  </a:txBody>
                  <a:tcPr>
                    <a:solidFill>
                      <a:srgbClr val="F0F0F0"/>
                    </a:solidFill>
                  </a:tcPr>
                </a:tc>
              </a:tr>
              <a:tr h="623454">
                <a:tc>
                  <a:txBody>
                    <a:bodyPr/>
                    <a:lstStyle/>
                    <a:p>
                      <a:pPr>
                        <a:defRPr sz="1800">
                          <a:solidFill>
                            <a:srgbClr val="251C23"/>
                          </a:solidFill>
                          <a:latin typeface="Times New Roman"/>
                        </a:defRPr>
                      </a:pPr>
                      <a:r>
                        <a:t>Resource Tracking</a:t>
                      </a:r>
                    </a:p>
                  </a:txBody>
                  <a:tcPr/>
                </a:tc>
                <a:tc>
                  <a:txBody>
                    <a:bodyPr/>
                    <a:lstStyle/>
                    <a:p>
                      <a:pPr>
                        <a:defRPr sz="1800">
                          <a:solidFill>
                            <a:srgbClr val="251C23"/>
                          </a:solidFill>
                          <a:latin typeface="Times New Roman"/>
                        </a:defRPr>
                      </a:pPr>
                      <a:r>
                        <a:t>Manual calculation</a:t>
                      </a:r>
                    </a:p>
                  </a:txBody>
                  <a:tcPr/>
                </a:tc>
                <a:tc>
                  <a:txBody>
                    <a:bodyPr/>
                    <a:lstStyle/>
                    <a:p>
                      <a:pPr>
                        <a:defRPr sz="1800">
                          <a:solidFill>
                            <a:srgbClr val="251C23"/>
                          </a:solidFill>
                          <a:latin typeface="Times New Roman"/>
                        </a:defRPr>
                      </a:pPr>
                      <a:r>
                        <a:t>Auto-computed utilization</a:t>
                      </a:r>
                    </a:p>
                  </a:txBody>
                  <a:tcPr/>
                </a:tc>
              </a:tr>
              <a:tr h="623454">
                <a:tc>
                  <a:txBody>
                    <a:bodyPr/>
                    <a:lstStyle/>
                    <a:p>
                      <a:pPr>
                        <a:defRPr sz="1800">
                          <a:solidFill>
                            <a:srgbClr val="251C23"/>
                          </a:solidFill>
                          <a:latin typeface="Times New Roman"/>
                        </a:defRPr>
                      </a:pPr>
                      <a:r>
                        <a:t>Authentication</a:t>
                      </a:r>
                    </a:p>
                  </a:txBody>
                  <a:tcPr>
                    <a:solidFill>
                      <a:srgbClr val="F0F0F0"/>
                    </a:solidFill>
                  </a:tcPr>
                </a:tc>
                <a:tc>
                  <a:txBody>
                    <a:bodyPr/>
                    <a:lstStyle/>
                    <a:p>
                      <a:pPr>
                        <a:defRPr sz="1800">
                          <a:solidFill>
                            <a:srgbClr val="251C23"/>
                          </a:solidFill>
                          <a:latin typeface="Times New Roman"/>
                        </a:defRPr>
                      </a:pPr>
                      <a:r>
                        <a:t>File sharing permissions</a:t>
                      </a:r>
                    </a:p>
                  </a:txBody>
                  <a:tcPr>
                    <a:solidFill>
                      <a:srgbClr val="F0F0F0"/>
                    </a:solidFill>
                  </a:tcPr>
                </a:tc>
                <a:tc>
                  <a:txBody>
                    <a:bodyPr/>
                    <a:lstStyle/>
                    <a:p>
                      <a:pPr>
                        <a:defRPr sz="1800">
                          <a:solidFill>
                            <a:srgbClr val="251C23"/>
                          </a:solidFill>
                          <a:latin typeface="Times New Roman"/>
                        </a:defRPr>
                      </a:pPr>
                      <a:r>
                        <a:t>JWT + OTP-based reset</a:t>
                      </a:r>
                    </a:p>
                  </a:txBody>
                  <a:tcPr>
                    <a:solidFill>
                      <a:srgbClr val="F0F0F0"/>
                    </a:solidFill>
                  </a:tcPr>
                </a:tc>
              </a:tr>
              <a:tr h="623454">
                <a:tc>
                  <a:txBody>
                    <a:bodyPr/>
                    <a:lstStyle/>
                    <a:p>
                      <a:pPr>
                        <a:defRPr sz="1800">
                          <a:solidFill>
                            <a:srgbClr val="251C23"/>
                          </a:solidFill>
                          <a:latin typeface="Times New Roman"/>
                        </a:defRPr>
                      </a:pPr>
                      <a:r>
                        <a:t>Dashboard / KPIs</a:t>
                      </a:r>
                    </a:p>
                  </a:txBody>
                  <a:tcPr/>
                </a:tc>
                <a:tc>
                  <a:txBody>
                    <a:bodyPr/>
                    <a:lstStyle/>
                    <a:p>
                      <a:pPr>
                        <a:defRPr sz="1800">
                          <a:solidFill>
                            <a:srgbClr val="251C23"/>
                          </a:solidFill>
                          <a:latin typeface="Times New Roman"/>
                        </a:defRPr>
                      </a:pPr>
                      <a:r>
                        <a:t>Manual reports</a:t>
                      </a:r>
                    </a:p>
                  </a:txBody>
                  <a:tcPr/>
                </a:tc>
                <a:tc>
                  <a:txBody>
                    <a:bodyPr/>
                    <a:lstStyle/>
                    <a:p>
                      <a:pPr>
                        <a:defRPr sz="1800">
                          <a:solidFill>
                            <a:srgbClr val="251C23"/>
                          </a:solidFill>
                          <a:latin typeface="Times New Roman"/>
                        </a:defRPr>
                      </a:pPr>
                      <a:r>
                        <a:t>Auto-generated real-time charts</a:t>
                      </a:r>
                    </a:p>
                  </a:txBody>
                  <a:tcPr/>
                </a:tc>
              </a:tr>
              <a:tr h="623454">
                <a:tc>
                  <a:txBody>
                    <a:bodyPr/>
                    <a:lstStyle/>
                    <a:p>
                      <a:pPr>
                        <a:defRPr sz="1800">
                          <a:solidFill>
                            <a:srgbClr val="251C23"/>
                          </a:solidFill>
                          <a:latin typeface="Times New Roman"/>
                        </a:defRPr>
                      </a:pPr>
                      <a:r>
                        <a:t>Email Notifications</a:t>
                      </a:r>
                    </a:p>
                  </a:txBody>
                  <a:tcPr>
                    <a:solidFill>
                      <a:srgbClr val="F0F0F0"/>
                    </a:solidFill>
                  </a:tcPr>
                </a:tc>
                <a:tc>
                  <a:txBody>
                    <a:bodyPr/>
                    <a:lstStyle/>
                    <a:p>
                      <a:pPr>
                        <a:defRPr sz="1800">
                          <a:solidFill>
                            <a:srgbClr val="251C23"/>
                          </a:solidFill>
                          <a:latin typeface="Times New Roman"/>
                        </a:defRPr>
                      </a:pPr>
                      <a:r>
                        <a:t>None</a:t>
                      </a:r>
                    </a:p>
                  </a:txBody>
                  <a:tcPr>
                    <a:solidFill>
                      <a:srgbClr val="F0F0F0"/>
                    </a:solidFill>
                  </a:tcPr>
                </a:tc>
                <a:tc>
                  <a:txBody>
                    <a:bodyPr/>
                    <a:lstStyle/>
                    <a:p>
                      <a:pPr>
                        <a:defRPr sz="1800">
                          <a:solidFill>
                            <a:srgbClr val="251C23"/>
                          </a:solidFill>
                          <a:latin typeface="Times New Roman"/>
                        </a:defRPr>
                      </a:pPr>
                      <a:r>
                        <a:t>Nodemailer + W3.css templates</a:t>
                      </a:r>
                    </a:p>
                  </a:txBody>
                  <a:tcPr>
                    <a:solidFill>
                      <a:srgbClr val="F0F0F0"/>
                    </a:solidFill>
                  </a:tcPr>
                </a:tc>
              </a:tr>
              <a:tr h="623454">
                <a:tc>
                  <a:txBody>
                    <a:bodyPr/>
                    <a:lstStyle/>
                    <a:p>
                      <a:pPr>
                        <a:defRPr sz="1800">
                          <a:solidFill>
                            <a:srgbClr val="251C23"/>
                          </a:solidFill>
                          <a:latin typeface="Times New Roman"/>
                        </a:defRPr>
                      </a:pPr>
                      <a:r>
                        <a:t>Mobile Access</a:t>
                      </a:r>
                    </a:p>
                  </a:txBody>
                  <a:tcPr/>
                </a:tc>
                <a:tc>
                  <a:txBody>
                    <a:bodyPr/>
                    <a:lstStyle/>
                    <a:p>
                      <a:pPr>
                        <a:defRPr sz="1800">
                          <a:solidFill>
                            <a:srgbClr val="251C23"/>
                          </a:solidFill>
                          <a:latin typeface="Times New Roman"/>
                        </a:defRPr>
                      </a:pPr>
                      <a:r>
                        <a:t>Limited</a:t>
                      </a:r>
                    </a:p>
                  </a:txBody>
                  <a:tcPr/>
                </a:tc>
                <a:tc>
                  <a:txBody>
                    <a:bodyPr/>
                    <a:lstStyle/>
                    <a:p>
                      <a:pPr>
                        <a:defRPr sz="1800">
                          <a:solidFill>
                            <a:srgbClr val="251C23"/>
                          </a:solidFill>
                          <a:latin typeface="Times New Roman"/>
                        </a:defRPr>
                      </a:pPr>
                      <a:r>
                        <a:t>Fully responsive design</a:t>
                      </a:r>
                    </a:p>
                  </a:txBody>
                  <a:tcPr/>
                </a:tc>
              </a:tr>
              <a:tr h="623460">
                <a:tc>
                  <a:txBody>
                    <a:bodyPr/>
                    <a:lstStyle/>
                    <a:p>
                      <a:pPr>
                        <a:defRPr sz="1800">
                          <a:solidFill>
                            <a:srgbClr val="251C23"/>
                          </a:solidFill>
                          <a:latin typeface="Times New Roman"/>
                        </a:defRPr>
                      </a:pPr>
                      <a:r>
                        <a:t>Scalability</a:t>
                      </a:r>
                    </a:p>
                  </a:txBody>
                  <a:tcPr>
                    <a:solidFill>
                      <a:srgbClr val="F0F0F0"/>
                    </a:solidFill>
                  </a:tcPr>
                </a:tc>
                <a:tc>
                  <a:txBody>
                    <a:bodyPr/>
                    <a:lstStyle/>
                    <a:p>
                      <a:pPr>
                        <a:defRPr sz="1800">
                          <a:solidFill>
                            <a:srgbClr val="251C23"/>
                          </a:solidFill>
                          <a:latin typeface="Times New Roman"/>
                        </a:defRPr>
                      </a:pPr>
                      <a:r>
                        <a:t>Poor (file-based)</a:t>
                      </a:r>
                    </a:p>
                  </a:txBody>
                  <a:tcPr>
                    <a:solidFill>
                      <a:srgbClr val="F0F0F0"/>
                    </a:solidFill>
                  </a:tcPr>
                </a:tc>
                <a:tc>
                  <a:txBody>
                    <a:bodyPr/>
                    <a:lstStyle/>
                    <a:p>
                      <a:pPr>
                        <a:defRPr sz="1800">
                          <a:solidFill>
                            <a:srgbClr val="251C23"/>
                          </a:solidFill>
                          <a:latin typeface="Times New Roman"/>
                        </a:defRPr>
                      </a:pPr>
                      <a:r>
                        <a:t>High (MERN stack)</a:t>
                      </a:r>
                    </a:p>
                  </a:txBody>
                  <a:tcPr>
                    <a:solidFill>
                      <a:srgbClr val="F0F0F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SYSTEM ARCHITECTURE</a:t>
            </a:r>
          </a:p>
        </p:txBody>
      </p:sp>
      <p:sp>
        <p:nvSpPr>
          <p:cNvPr id="3" name="Rounded Rectangle 2"/>
          <p:cNvSpPr/>
          <p:nvPr/>
        </p:nvSpPr>
        <p:spPr>
          <a:xfrm>
            <a:off x="2286000" y="1828800"/>
            <a:ext cx="12344400" cy="164592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0" y="1920240"/>
            <a:ext cx="11430000" cy="457200"/>
          </a:xfrm>
          <a:prstGeom prst="rect">
            <a:avLst/>
          </a:prstGeom>
          <a:noFill/>
        </p:spPr>
        <p:txBody>
          <a:bodyPr wrap="square">
            <a:spAutoFit/>
          </a:bodyPr>
          <a:lstStyle/>
          <a:p>
            <a:pPr algn="ctr"/>
            <a:r>
              <a:rPr sz="2400" b="1">
                <a:solidFill>
                  <a:srgbClr val="1E3A5F"/>
                </a:solidFill>
                <a:latin typeface="Times New Roman"/>
              </a:rPr>
              <a:t>PRESENTATION TIER (Frontend)</a:t>
            </a:r>
          </a:p>
        </p:txBody>
      </p:sp>
      <p:sp>
        <p:nvSpPr>
          <p:cNvPr id="5" name="TextBox 4"/>
          <p:cNvSpPr txBox="1"/>
          <p:nvPr/>
        </p:nvSpPr>
        <p:spPr>
          <a:xfrm>
            <a:off x="2743200" y="2423160"/>
            <a:ext cx="11430000" cy="914400"/>
          </a:xfrm>
          <a:prstGeom prst="rect">
            <a:avLst/>
          </a:prstGeom>
          <a:noFill/>
        </p:spPr>
        <p:txBody>
          <a:bodyPr wrap="square">
            <a:spAutoFit/>
          </a:bodyPr>
          <a:lstStyle/>
          <a:p>
            <a:pPr algn="ctr"/>
            <a:r>
              <a:rPr sz="1800" b="0">
                <a:solidFill>
                  <a:srgbClr val="666666"/>
                </a:solidFill>
                <a:latin typeface="Times New Roman"/>
              </a:rPr>
              <a:t>React.js 18 SPA  •  React Router v6  •  Chart.js  •  dhtmlx-gantt
Context API (State)  •  Axios HTTP Client  •  Port 3000</a:t>
            </a:r>
          </a:p>
        </p:txBody>
      </p:sp>
      <p:sp>
        <p:nvSpPr>
          <p:cNvPr id="6" name="Rounded Rectangle 5"/>
          <p:cNvSpPr/>
          <p:nvPr/>
        </p:nvSpPr>
        <p:spPr>
          <a:xfrm>
            <a:off x="2286000" y="4114800"/>
            <a:ext cx="12344400" cy="164592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4206240"/>
            <a:ext cx="11430000" cy="457200"/>
          </a:xfrm>
          <a:prstGeom prst="rect">
            <a:avLst/>
          </a:prstGeom>
          <a:noFill/>
        </p:spPr>
        <p:txBody>
          <a:bodyPr wrap="square">
            <a:spAutoFit/>
          </a:bodyPr>
          <a:lstStyle/>
          <a:p>
            <a:pPr algn="ctr"/>
            <a:r>
              <a:rPr sz="2400" b="1">
                <a:solidFill>
                  <a:srgbClr val="1E3A5F"/>
                </a:solidFill>
                <a:latin typeface="Times New Roman"/>
              </a:rPr>
              <a:t>APPLICATION TIER (Backend)</a:t>
            </a:r>
          </a:p>
        </p:txBody>
      </p:sp>
      <p:sp>
        <p:nvSpPr>
          <p:cNvPr id="8" name="TextBox 7"/>
          <p:cNvSpPr txBox="1"/>
          <p:nvPr/>
        </p:nvSpPr>
        <p:spPr>
          <a:xfrm>
            <a:off x="2743200" y="4709160"/>
            <a:ext cx="11430000" cy="914400"/>
          </a:xfrm>
          <a:prstGeom prst="rect">
            <a:avLst/>
          </a:prstGeom>
          <a:noFill/>
        </p:spPr>
        <p:txBody>
          <a:bodyPr wrap="square">
            <a:spAutoFit/>
          </a:bodyPr>
          <a:lstStyle/>
          <a:p>
            <a:pPr algn="ctr"/>
            <a:r>
              <a:rPr sz="1800" b="0">
                <a:solidFill>
                  <a:srgbClr val="666666"/>
                </a:solidFill>
                <a:latin typeface="Times New Roman"/>
              </a:rPr>
              <a:t>Node.js + Express.js (Port 5000)  •  JWT Auth Middleware  •  CORS
Controllers: Auth | Project | Task | Resource | Dashboard  •  Nodemailer Email</a:t>
            </a:r>
          </a:p>
        </p:txBody>
      </p:sp>
      <p:sp>
        <p:nvSpPr>
          <p:cNvPr id="9" name="Rounded Rectangle 8"/>
          <p:cNvSpPr/>
          <p:nvPr/>
        </p:nvSpPr>
        <p:spPr>
          <a:xfrm>
            <a:off x="2286000" y="6400800"/>
            <a:ext cx="12344400" cy="164592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6492240"/>
            <a:ext cx="11430000" cy="457200"/>
          </a:xfrm>
          <a:prstGeom prst="rect">
            <a:avLst/>
          </a:prstGeom>
          <a:noFill/>
        </p:spPr>
        <p:txBody>
          <a:bodyPr wrap="square">
            <a:spAutoFit/>
          </a:bodyPr>
          <a:lstStyle/>
          <a:p>
            <a:pPr algn="ctr"/>
            <a:r>
              <a:rPr sz="2400" b="1">
                <a:solidFill>
                  <a:srgbClr val="1E3A5F"/>
                </a:solidFill>
                <a:latin typeface="Times New Roman"/>
              </a:rPr>
              <a:t>DATA TIER (Database)</a:t>
            </a:r>
          </a:p>
        </p:txBody>
      </p:sp>
      <p:sp>
        <p:nvSpPr>
          <p:cNvPr id="11" name="TextBox 10"/>
          <p:cNvSpPr txBox="1"/>
          <p:nvPr/>
        </p:nvSpPr>
        <p:spPr>
          <a:xfrm>
            <a:off x="2743200" y="6995160"/>
            <a:ext cx="11430000" cy="914400"/>
          </a:xfrm>
          <a:prstGeom prst="rect">
            <a:avLst/>
          </a:prstGeom>
          <a:noFill/>
        </p:spPr>
        <p:txBody>
          <a:bodyPr wrap="square">
            <a:spAutoFit/>
          </a:bodyPr>
          <a:lstStyle/>
          <a:p>
            <a:pPr algn="ctr"/>
            <a:r>
              <a:rPr sz="1800" b="0">
                <a:solidFill>
                  <a:srgbClr val="666666"/>
                </a:solidFill>
                <a:latin typeface="Times New Roman"/>
              </a:rPr>
              <a:t>MongoDB Atlas (Cloud)  •  Mongoose ODM
Collections: Users | Projects | Tasks | Resources</a:t>
            </a:r>
          </a:p>
        </p:txBody>
      </p:sp>
      <p:sp>
        <p:nvSpPr>
          <p:cNvPr id="12" name="TextBox 11"/>
          <p:cNvSpPr txBox="1"/>
          <p:nvPr/>
        </p:nvSpPr>
        <p:spPr>
          <a:xfrm>
            <a:off x="7772400" y="3520440"/>
            <a:ext cx="1828800" cy="457200"/>
          </a:xfrm>
          <a:prstGeom prst="rect">
            <a:avLst/>
          </a:prstGeom>
          <a:noFill/>
        </p:spPr>
        <p:txBody>
          <a:bodyPr wrap="square">
            <a:spAutoFit/>
          </a:bodyPr>
          <a:lstStyle/>
          <a:p>
            <a:pPr algn="ctr"/>
            <a:r>
              <a:rPr sz="1400" b="0">
                <a:solidFill>
                  <a:srgbClr val="3C6CA8"/>
                </a:solidFill>
                <a:latin typeface="Times New Roman"/>
              </a:rPr>
              <a:t>⬇ REST API / JSON + JWT ⬇</a:t>
            </a:r>
          </a:p>
        </p:txBody>
      </p:sp>
      <p:sp>
        <p:nvSpPr>
          <p:cNvPr id="13" name="TextBox 12"/>
          <p:cNvSpPr txBox="1"/>
          <p:nvPr/>
        </p:nvSpPr>
        <p:spPr>
          <a:xfrm>
            <a:off x="7772400" y="5806440"/>
            <a:ext cx="1828800" cy="457200"/>
          </a:xfrm>
          <a:prstGeom prst="rect">
            <a:avLst/>
          </a:prstGeom>
          <a:noFill/>
        </p:spPr>
        <p:txBody>
          <a:bodyPr wrap="square">
            <a:spAutoFit/>
          </a:bodyPr>
          <a:lstStyle/>
          <a:p>
            <a:pPr algn="ctr"/>
            <a:r>
              <a:rPr sz="1400" b="0">
                <a:solidFill>
                  <a:srgbClr val="3C6CA8"/>
                </a:solidFill>
                <a:latin typeface="Times New Roman"/>
              </a:rPr>
              <a:t>⬇ Mongoose ODM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USE CASE DIAGRAM</a:t>
            </a:r>
          </a:p>
        </p:txBody>
      </p:sp>
      <p:sp>
        <p:nvSpPr>
          <p:cNvPr id="3" name="TextBox 2"/>
          <p:cNvSpPr txBox="1"/>
          <p:nvPr/>
        </p:nvSpPr>
        <p:spPr>
          <a:xfrm>
            <a:off x="457200" y="1828800"/>
            <a:ext cx="3200400" cy="365760"/>
          </a:xfrm>
          <a:prstGeom prst="rect">
            <a:avLst/>
          </a:prstGeom>
          <a:noFill/>
        </p:spPr>
        <p:txBody>
          <a:bodyPr wrap="square">
            <a:spAutoFit/>
          </a:bodyPr>
          <a:lstStyle/>
          <a:p>
            <a:pPr algn="l"/>
            <a:r>
              <a:rPr sz="2400" b="1">
                <a:solidFill>
                  <a:srgbClr val="1E3A5F"/>
                </a:solidFill>
                <a:latin typeface="Times New Roman"/>
              </a:rPr>
              <a:t>Actors:</a:t>
            </a:r>
          </a:p>
        </p:txBody>
      </p:sp>
      <p:sp>
        <p:nvSpPr>
          <p:cNvPr id="4" name="TextBox 3"/>
          <p:cNvSpPr txBox="1"/>
          <p:nvPr/>
        </p:nvSpPr>
        <p:spPr>
          <a:xfrm>
            <a:off x="457200" y="2377440"/>
            <a:ext cx="3474720" cy="2286000"/>
          </a:xfrm>
          <a:prstGeom prst="rect">
            <a:avLst/>
          </a:prstGeom>
          <a:noFill/>
        </p:spPr>
        <p:txBody>
          <a:bodyPr wrap="square">
            <a:spAutoFit/>
          </a:bodyPr>
          <a:lstStyle/>
          <a:p>
            <a:pPr>
              <a:spcBef>
                <a:spcPts val="400"/>
              </a:spcBef>
              <a:spcAft>
                <a:spcPts val="600"/>
              </a:spcAft>
            </a:pPr>
            <a:r>
              <a:rPr sz="1800" b="0">
                <a:solidFill>
                  <a:srgbClr val="251C23"/>
                </a:solidFill>
                <a:latin typeface="Times New Roman"/>
              </a:rPr>
              <a:t>👤 Project Manager — Full access</a:t>
            </a:r>
          </a:p>
          <a:p>
            <a:pPr>
              <a:spcBef>
                <a:spcPts val="400"/>
              </a:spcBef>
              <a:spcAft>
                <a:spcPts val="600"/>
              </a:spcAft>
            </a:pPr>
            <a:r>
              <a:rPr sz="1800" b="0">
                <a:solidFill>
                  <a:srgbClr val="251C23"/>
                </a:solidFill>
                <a:latin typeface="Times New Roman"/>
              </a:rPr>
              <a:t>👤 Team Member — View + update tasks</a:t>
            </a:r>
          </a:p>
          <a:p>
            <a:pPr>
              <a:spcBef>
                <a:spcPts val="400"/>
              </a:spcBef>
              <a:spcAft>
                <a:spcPts val="600"/>
              </a:spcAft>
            </a:pPr>
            <a:r>
              <a:rPr sz="1800" b="0">
                <a:solidFill>
                  <a:srgbClr val="251C23"/>
                </a:solidFill>
                <a:latin typeface="Times New Roman"/>
              </a:rPr>
              <a:t>👤 Admin — System administration</a:t>
            </a:r>
          </a:p>
        </p:txBody>
      </p:sp>
      <p:sp>
        <p:nvSpPr>
          <p:cNvPr id="5" name="Rounded Rectangle 4"/>
          <p:cNvSpPr/>
          <p:nvPr/>
        </p:nvSpPr>
        <p:spPr>
          <a:xfrm>
            <a:off x="4114800" y="1828800"/>
            <a:ext cx="5029200" cy="1600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0" y="1874520"/>
            <a:ext cx="4663440" cy="320040"/>
          </a:xfrm>
          <a:prstGeom prst="rect">
            <a:avLst/>
          </a:prstGeom>
          <a:noFill/>
        </p:spPr>
        <p:txBody>
          <a:bodyPr wrap="square">
            <a:spAutoFit/>
          </a:bodyPr>
          <a:lstStyle/>
          <a:p>
            <a:pPr algn="ctr"/>
            <a:r>
              <a:rPr sz="1800" b="1">
                <a:solidFill>
                  <a:srgbClr val="1E3A5F"/>
                </a:solidFill>
                <a:latin typeface="Times New Roman"/>
              </a:rPr>
              <a:t>Authentication</a:t>
            </a:r>
          </a:p>
        </p:txBody>
      </p:sp>
      <p:sp>
        <p:nvSpPr>
          <p:cNvPr id="7" name="TextBox 6"/>
          <p:cNvSpPr txBox="1"/>
          <p:nvPr/>
        </p:nvSpPr>
        <p:spPr>
          <a:xfrm>
            <a:off x="4389120" y="2194560"/>
            <a:ext cx="4572000" cy="274320"/>
          </a:xfrm>
          <a:prstGeom prst="rect">
            <a:avLst/>
          </a:prstGeom>
          <a:noFill/>
        </p:spPr>
        <p:txBody>
          <a:bodyPr wrap="square">
            <a:spAutoFit/>
          </a:bodyPr>
          <a:lstStyle/>
          <a:p>
            <a:pPr algn="l"/>
            <a:r>
              <a:rPr sz="1500" b="0">
                <a:solidFill>
                  <a:srgbClr val="251C23"/>
                </a:solidFill>
                <a:latin typeface="Times New Roman"/>
              </a:rPr>
              <a:t>○ Register</a:t>
            </a:r>
          </a:p>
        </p:txBody>
      </p:sp>
      <p:sp>
        <p:nvSpPr>
          <p:cNvPr id="8" name="TextBox 7"/>
          <p:cNvSpPr txBox="1"/>
          <p:nvPr/>
        </p:nvSpPr>
        <p:spPr>
          <a:xfrm>
            <a:off x="4389120" y="2487168"/>
            <a:ext cx="4572000" cy="274320"/>
          </a:xfrm>
          <a:prstGeom prst="rect">
            <a:avLst/>
          </a:prstGeom>
          <a:noFill/>
        </p:spPr>
        <p:txBody>
          <a:bodyPr wrap="square">
            <a:spAutoFit/>
          </a:bodyPr>
          <a:lstStyle/>
          <a:p>
            <a:pPr algn="l"/>
            <a:r>
              <a:rPr sz="1500" b="0">
                <a:solidFill>
                  <a:srgbClr val="251C23"/>
                </a:solidFill>
                <a:latin typeface="Times New Roman"/>
              </a:rPr>
              <a:t>○ Login / Logout</a:t>
            </a:r>
          </a:p>
        </p:txBody>
      </p:sp>
      <p:sp>
        <p:nvSpPr>
          <p:cNvPr id="9" name="TextBox 8"/>
          <p:cNvSpPr txBox="1"/>
          <p:nvPr/>
        </p:nvSpPr>
        <p:spPr>
          <a:xfrm>
            <a:off x="4389120" y="2779776"/>
            <a:ext cx="4572000" cy="274320"/>
          </a:xfrm>
          <a:prstGeom prst="rect">
            <a:avLst/>
          </a:prstGeom>
          <a:noFill/>
        </p:spPr>
        <p:txBody>
          <a:bodyPr wrap="square">
            <a:spAutoFit/>
          </a:bodyPr>
          <a:lstStyle/>
          <a:p>
            <a:pPr algn="l"/>
            <a:r>
              <a:rPr sz="1500" b="0">
                <a:solidFill>
                  <a:srgbClr val="251C23"/>
                </a:solidFill>
                <a:latin typeface="Times New Roman"/>
              </a:rPr>
              <a:t>○ Forgot Password (OTP)</a:t>
            </a:r>
          </a:p>
        </p:txBody>
      </p:sp>
      <p:sp>
        <p:nvSpPr>
          <p:cNvPr id="10" name="TextBox 9"/>
          <p:cNvSpPr txBox="1"/>
          <p:nvPr/>
        </p:nvSpPr>
        <p:spPr>
          <a:xfrm>
            <a:off x="4389120" y="3072384"/>
            <a:ext cx="4572000" cy="274320"/>
          </a:xfrm>
          <a:prstGeom prst="rect">
            <a:avLst/>
          </a:prstGeom>
          <a:noFill/>
        </p:spPr>
        <p:txBody>
          <a:bodyPr wrap="square">
            <a:spAutoFit/>
          </a:bodyPr>
          <a:lstStyle/>
          <a:p>
            <a:pPr algn="l"/>
            <a:r>
              <a:rPr sz="1500" b="0">
                <a:solidFill>
                  <a:srgbClr val="251C23"/>
                </a:solidFill>
                <a:latin typeface="Times New Roman"/>
              </a:rPr>
              <a:t>○ Reset Password</a:t>
            </a:r>
          </a:p>
        </p:txBody>
      </p:sp>
      <p:sp>
        <p:nvSpPr>
          <p:cNvPr id="11" name="Rounded Rectangle 10"/>
          <p:cNvSpPr/>
          <p:nvPr/>
        </p:nvSpPr>
        <p:spPr>
          <a:xfrm>
            <a:off x="8686800" y="1828800"/>
            <a:ext cx="5029200" cy="1600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1874520"/>
            <a:ext cx="4663440" cy="320040"/>
          </a:xfrm>
          <a:prstGeom prst="rect">
            <a:avLst/>
          </a:prstGeom>
          <a:noFill/>
        </p:spPr>
        <p:txBody>
          <a:bodyPr wrap="square">
            <a:spAutoFit/>
          </a:bodyPr>
          <a:lstStyle/>
          <a:p>
            <a:pPr algn="ctr"/>
            <a:r>
              <a:rPr sz="1800" b="1">
                <a:solidFill>
                  <a:srgbClr val="1E3A5F"/>
                </a:solidFill>
                <a:latin typeface="Times New Roman"/>
              </a:rPr>
              <a:t>Project Management</a:t>
            </a:r>
          </a:p>
        </p:txBody>
      </p:sp>
      <p:sp>
        <p:nvSpPr>
          <p:cNvPr id="13" name="TextBox 12"/>
          <p:cNvSpPr txBox="1"/>
          <p:nvPr/>
        </p:nvSpPr>
        <p:spPr>
          <a:xfrm>
            <a:off x="8961120" y="2194560"/>
            <a:ext cx="4572000" cy="274320"/>
          </a:xfrm>
          <a:prstGeom prst="rect">
            <a:avLst/>
          </a:prstGeom>
          <a:noFill/>
        </p:spPr>
        <p:txBody>
          <a:bodyPr wrap="square">
            <a:spAutoFit/>
          </a:bodyPr>
          <a:lstStyle/>
          <a:p>
            <a:pPr algn="l"/>
            <a:r>
              <a:rPr sz="1500" b="0">
                <a:solidFill>
                  <a:srgbClr val="251C23"/>
                </a:solidFill>
                <a:latin typeface="Times New Roman"/>
              </a:rPr>
              <a:t>○ Create / Edit / Delete Project</a:t>
            </a:r>
          </a:p>
        </p:txBody>
      </p:sp>
      <p:sp>
        <p:nvSpPr>
          <p:cNvPr id="14" name="TextBox 13"/>
          <p:cNvSpPr txBox="1"/>
          <p:nvPr/>
        </p:nvSpPr>
        <p:spPr>
          <a:xfrm>
            <a:off x="8961120" y="2487168"/>
            <a:ext cx="4572000" cy="274320"/>
          </a:xfrm>
          <a:prstGeom prst="rect">
            <a:avLst/>
          </a:prstGeom>
          <a:noFill/>
        </p:spPr>
        <p:txBody>
          <a:bodyPr wrap="square">
            <a:spAutoFit/>
          </a:bodyPr>
          <a:lstStyle/>
          <a:p>
            <a:pPr algn="l"/>
            <a:r>
              <a:rPr sz="1500" b="0">
                <a:solidFill>
                  <a:srgbClr val="251C23"/>
                </a:solidFill>
                <a:latin typeface="Times New Roman"/>
              </a:rPr>
              <a:t>○ View Projects &amp; Details</a:t>
            </a:r>
          </a:p>
        </p:txBody>
      </p:sp>
      <p:sp>
        <p:nvSpPr>
          <p:cNvPr id="15" name="TextBox 14"/>
          <p:cNvSpPr txBox="1"/>
          <p:nvPr/>
        </p:nvSpPr>
        <p:spPr>
          <a:xfrm>
            <a:off x="8961120" y="2779776"/>
            <a:ext cx="4572000" cy="274320"/>
          </a:xfrm>
          <a:prstGeom prst="rect">
            <a:avLst/>
          </a:prstGeom>
          <a:noFill/>
        </p:spPr>
        <p:txBody>
          <a:bodyPr wrap="square">
            <a:spAutoFit/>
          </a:bodyPr>
          <a:lstStyle/>
          <a:p>
            <a:pPr algn="l"/>
            <a:r>
              <a:rPr sz="1500" b="0">
                <a:solidFill>
                  <a:srgbClr val="251C23"/>
                </a:solidFill>
                <a:latin typeface="Times New Roman"/>
              </a:rPr>
              <a:t>○ Search / Filter / Sort</a:t>
            </a:r>
          </a:p>
        </p:txBody>
      </p:sp>
      <p:sp>
        <p:nvSpPr>
          <p:cNvPr id="16" name="TextBox 15"/>
          <p:cNvSpPr txBox="1"/>
          <p:nvPr/>
        </p:nvSpPr>
        <p:spPr>
          <a:xfrm>
            <a:off x="8961120" y="3072384"/>
            <a:ext cx="4572000" cy="274320"/>
          </a:xfrm>
          <a:prstGeom prst="rect">
            <a:avLst/>
          </a:prstGeom>
          <a:noFill/>
        </p:spPr>
        <p:txBody>
          <a:bodyPr wrap="square">
            <a:spAutoFit/>
          </a:bodyPr>
          <a:lstStyle/>
          <a:p>
            <a:pPr algn="l"/>
            <a:r>
              <a:rPr sz="1500" b="0">
                <a:solidFill>
                  <a:srgbClr val="251C23"/>
                </a:solidFill>
                <a:latin typeface="Times New Roman"/>
              </a:rPr>
              <a:t>○ Track Progress</a:t>
            </a:r>
          </a:p>
        </p:txBody>
      </p:sp>
      <p:sp>
        <p:nvSpPr>
          <p:cNvPr id="17" name="Rounded Rectangle 16"/>
          <p:cNvSpPr/>
          <p:nvPr/>
        </p:nvSpPr>
        <p:spPr>
          <a:xfrm>
            <a:off x="4114800" y="5029200"/>
            <a:ext cx="5029200" cy="1600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5074920"/>
            <a:ext cx="4663440" cy="320040"/>
          </a:xfrm>
          <a:prstGeom prst="rect">
            <a:avLst/>
          </a:prstGeom>
          <a:noFill/>
        </p:spPr>
        <p:txBody>
          <a:bodyPr wrap="square">
            <a:spAutoFit/>
          </a:bodyPr>
          <a:lstStyle/>
          <a:p>
            <a:pPr algn="ctr"/>
            <a:r>
              <a:rPr sz="1800" b="1">
                <a:solidFill>
                  <a:srgbClr val="1E3A5F"/>
                </a:solidFill>
                <a:latin typeface="Times New Roman"/>
              </a:rPr>
              <a:t>Task Management</a:t>
            </a:r>
          </a:p>
        </p:txBody>
      </p:sp>
      <p:sp>
        <p:nvSpPr>
          <p:cNvPr id="19" name="TextBox 18"/>
          <p:cNvSpPr txBox="1"/>
          <p:nvPr/>
        </p:nvSpPr>
        <p:spPr>
          <a:xfrm>
            <a:off x="4389120" y="5394960"/>
            <a:ext cx="4572000" cy="274320"/>
          </a:xfrm>
          <a:prstGeom prst="rect">
            <a:avLst/>
          </a:prstGeom>
          <a:noFill/>
        </p:spPr>
        <p:txBody>
          <a:bodyPr wrap="square">
            <a:spAutoFit/>
          </a:bodyPr>
          <a:lstStyle/>
          <a:p>
            <a:pPr algn="l"/>
            <a:r>
              <a:rPr sz="1500" b="0">
                <a:solidFill>
                  <a:srgbClr val="251C23"/>
                </a:solidFill>
                <a:latin typeface="Times New Roman"/>
              </a:rPr>
              <a:t>○ Create / Update / Delete Task</a:t>
            </a:r>
          </a:p>
        </p:txBody>
      </p:sp>
      <p:sp>
        <p:nvSpPr>
          <p:cNvPr id="20" name="TextBox 19"/>
          <p:cNvSpPr txBox="1"/>
          <p:nvPr/>
        </p:nvSpPr>
        <p:spPr>
          <a:xfrm>
            <a:off x="4389120" y="5687568"/>
            <a:ext cx="4572000" cy="274320"/>
          </a:xfrm>
          <a:prstGeom prst="rect">
            <a:avLst/>
          </a:prstGeom>
          <a:noFill/>
        </p:spPr>
        <p:txBody>
          <a:bodyPr wrap="square">
            <a:spAutoFit/>
          </a:bodyPr>
          <a:lstStyle/>
          <a:p>
            <a:pPr algn="l"/>
            <a:r>
              <a:rPr sz="1500" b="0">
                <a:solidFill>
                  <a:srgbClr val="251C23"/>
                </a:solidFill>
                <a:latin typeface="Times New Roman"/>
              </a:rPr>
              <a:t>○ Assign Resource</a:t>
            </a:r>
          </a:p>
        </p:txBody>
      </p:sp>
      <p:sp>
        <p:nvSpPr>
          <p:cNvPr id="21" name="TextBox 20"/>
          <p:cNvSpPr txBox="1"/>
          <p:nvPr/>
        </p:nvSpPr>
        <p:spPr>
          <a:xfrm>
            <a:off x="4389120" y="5980176"/>
            <a:ext cx="4572000" cy="274320"/>
          </a:xfrm>
          <a:prstGeom prst="rect">
            <a:avLst/>
          </a:prstGeom>
          <a:noFill/>
        </p:spPr>
        <p:txBody>
          <a:bodyPr wrap="square">
            <a:spAutoFit/>
          </a:bodyPr>
          <a:lstStyle/>
          <a:p>
            <a:pPr algn="l"/>
            <a:r>
              <a:rPr sz="1500" b="0">
                <a:solidFill>
                  <a:srgbClr val="251C23"/>
                </a:solidFill>
                <a:latin typeface="Times New Roman"/>
              </a:rPr>
              <a:t>○ Set Dependency</a:t>
            </a:r>
          </a:p>
        </p:txBody>
      </p:sp>
      <p:sp>
        <p:nvSpPr>
          <p:cNvPr id="22" name="TextBox 21"/>
          <p:cNvSpPr txBox="1"/>
          <p:nvPr/>
        </p:nvSpPr>
        <p:spPr>
          <a:xfrm>
            <a:off x="4389120" y="6272784"/>
            <a:ext cx="4572000" cy="274320"/>
          </a:xfrm>
          <a:prstGeom prst="rect">
            <a:avLst/>
          </a:prstGeom>
          <a:noFill/>
        </p:spPr>
        <p:txBody>
          <a:bodyPr wrap="square">
            <a:spAutoFit/>
          </a:bodyPr>
          <a:lstStyle/>
          <a:p>
            <a:pPr algn="l"/>
            <a:r>
              <a:rPr sz="1500" b="0">
                <a:solidFill>
                  <a:srgbClr val="251C23"/>
                </a:solidFill>
                <a:latin typeface="Times New Roman"/>
              </a:rPr>
              <a:t>○ Mark Milestone</a:t>
            </a:r>
          </a:p>
        </p:txBody>
      </p:sp>
      <p:sp>
        <p:nvSpPr>
          <p:cNvPr id="23" name="Rounded Rectangle 22"/>
          <p:cNvSpPr/>
          <p:nvPr/>
        </p:nvSpPr>
        <p:spPr>
          <a:xfrm>
            <a:off x="8686800" y="5029200"/>
            <a:ext cx="5029200" cy="1600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5074920"/>
            <a:ext cx="4663440" cy="320040"/>
          </a:xfrm>
          <a:prstGeom prst="rect">
            <a:avLst/>
          </a:prstGeom>
          <a:noFill/>
        </p:spPr>
        <p:txBody>
          <a:bodyPr wrap="square">
            <a:spAutoFit/>
          </a:bodyPr>
          <a:lstStyle/>
          <a:p>
            <a:pPr algn="ctr"/>
            <a:r>
              <a:rPr sz="1800" b="1">
                <a:solidFill>
                  <a:srgbClr val="1E3A5F"/>
                </a:solidFill>
                <a:latin typeface="Times New Roman"/>
              </a:rPr>
              <a:t>Resource &amp; Dashboard</a:t>
            </a:r>
          </a:p>
        </p:txBody>
      </p:sp>
      <p:sp>
        <p:nvSpPr>
          <p:cNvPr id="25" name="TextBox 24"/>
          <p:cNvSpPr txBox="1"/>
          <p:nvPr/>
        </p:nvSpPr>
        <p:spPr>
          <a:xfrm>
            <a:off x="8961120" y="5394960"/>
            <a:ext cx="4572000" cy="274320"/>
          </a:xfrm>
          <a:prstGeom prst="rect">
            <a:avLst/>
          </a:prstGeom>
          <a:noFill/>
        </p:spPr>
        <p:txBody>
          <a:bodyPr wrap="square">
            <a:spAutoFit/>
          </a:bodyPr>
          <a:lstStyle/>
          <a:p>
            <a:pPr algn="l"/>
            <a:r>
              <a:rPr sz="1500" b="0">
                <a:solidFill>
                  <a:srgbClr val="251C23"/>
                </a:solidFill>
                <a:latin typeface="Times New Roman"/>
              </a:rPr>
              <a:t>○ Add / Edit Resources</a:t>
            </a:r>
          </a:p>
        </p:txBody>
      </p:sp>
      <p:sp>
        <p:nvSpPr>
          <p:cNvPr id="26" name="TextBox 25"/>
          <p:cNvSpPr txBox="1"/>
          <p:nvPr/>
        </p:nvSpPr>
        <p:spPr>
          <a:xfrm>
            <a:off x="8961120" y="5687568"/>
            <a:ext cx="4572000" cy="274320"/>
          </a:xfrm>
          <a:prstGeom prst="rect">
            <a:avLst/>
          </a:prstGeom>
          <a:noFill/>
        </p:spPr>
        <p:txBody>
          <a:bodyPr wrap="square">
            <a:spAutoFit/>
          </a:bodyPr>
          <a:lstStyle/>
          <a:p>
            <a:pPr algn="l"/>
            <a:r>
              <a:rPr sz="1500" b="0">
                <a:solidFill>
                  <a:srgbClr val="251C23"/>
                </a:solidFill>
                <a:latin typeface="Times New Roman"/>
              </a:rPr>
              <a:t>○ View Utilization</a:t>
            </a:r>
          </a:p>
        </p:txBody>
      </p:sp>
      <p:sp>
        <p:nvSpPr>
          <p:cNvPr id="27" name="TextBox 26"/>
          <p:cNvSpPr txBox="1"/>
          <p:nvPr/>
        </p:nvSpPr>
        <p:spPr>
          <a:xfrm>
            <a:off x="8961120" y="5980176"/>
            <a:ext cx="4572000" cy="274320"/>
          </a:xfrm>
          <a:prstGeom prst="rect">
            <a:avLst/>
          </a:prstGeom>
          <a:noFill/>
        </p:spPr>
        <p:txBody>
          <a:bodyPr wrap="square">
            <a:spAutoFit/>
          </a:bodyPr>
          <a:lstStyle/>
          <a:p>
            <a:pPr algn="l"/>
            <a:r>
              <a:rPr sz="1500" b="0">
                <a:solidFill>
                  <a:srgbClr val="251C23"/>
                </a:solidFill>
                <a:latin typeface="Times New Roman"/>
              </a:rPr>
              <a:t>○ Dashboard KPIs &amp; Charts</a:t>
            </a:r>
          </a:p>
        </p:txBody>
      </p:sp>
      <p:sp>
        <p:nvSpPr>
          <p:cNvPr id="28" name="TextBox 27"/>
          <p:cNvSpPr txBox="1"/>
          <p:nvPr/>
        </p:nvSpPr>
        <p:spPr>
          <a:xfrm>
            <a:off x="8961120" y="6272784"/>
            <a:ext cx="4572000" cy="274320"/>
          </a:xfrm>
          <a:prstGeom prst="rect">
            <a:avLst/>
          </a:prstGeom>
          <a:noFill/>
        </p:spPr>
        <p:txBody>
          <a:bodyPr wrap="square">
            <a:spAutoFit/>
          </a:bodyPr>
          <a:lstStyle/>
          <a:p>
            <a:pPr algn="l"/>
            <a:r>
              <a:rPr sz="1500" b="0">
                <a:solidFill>
                  <a:srgbClr val="251C23"/>
                </a:solidFill>
                <a:latin typeface="Times New Roman"/>
              </a:rPr>
              <a:t>○ Gantt Chart Visualization</a:t>
            </a:r>
          </a:p>
        </p:txBody>
      </p:sp>
      <p:sp>
        <p:nvSpPr>
          <p:cNvPr id="29" name="TextBox 28"/>
          <p:cNvSpPr txBox="1"/>
          <p:nvPr/>
        </p:nvSpPr>
        <p:spPr>
          <a:xfrm>
            <a:off x="914400" y="8229600"/>
            <a:ext cx="14630400" cy="365760"/>
          </a:xfrm>
          <a:prstGeom prst="rect">
            <a:avLst/>
          </a:prstGeom>
          <a:noFill/>
        </p:spPr>
        <p:txBody>
          <a:bodyPr wrap="square">
            <a:spAutoFit/>
          </a:bodyPr>
          <a:lstStyle/>
          <a:p>
            <a:pPr algn="ctr"/>
            <a:r>
              <a:rPr sz="1600" b="1">
                <a:solidFill>
                  <a:srgbClr val="3C6CA8"/>
                </a:solidFill>
                <a:latin typeface="Times New Roman"/>
              </a:rPr>
              <a:t>28+ Use Cases  •  3 Actor Types  •  7 Functional Modules including Authentication &amp; Email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CLASS DIAGRAM</a:t>
            </a:r>
          </a:p>
        </p:txBody>
      </p:sp>
      <p:sp>
        <p:nvSpPr>
          <p:cNvPr id="3" name="Rectangle 2"/>
          <p:cNvSpPr/>
          <p:nvPr/>
        </p:nvSpPr>
        <p:spPr>
          <a:xfrm>
            <a:off x="274320" y="1645920"/>
            <a:ext cx="38404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64208"/>
            <a:ext cx="3657600" cy="320040"/>
          </a:xfrm>
          <a:prstGeom prst="rect">
            <a:avLst/>
          </a:prstGeom>
          <a:noFill/>
        </p:spPr>
        <p:txBody>
          <a:bodyPr wrap="square">
            <a:spAutoFit/>
          </a:bodyPr>
          <a:lstStyle/>
          <a:p>
            <a:pPr algn="ctr"/>
            <a:r>
              <a:rPr sz="1600" b="1">
                <a:solidFill>
                  <a:srgbClr val="FFFFFF"/>
                </a:solidFill>
                <a:latin typeface="Times New Roman"/>
              </a:rPr>
              <a:t>User</a:t>
            </a:r>
          </a:p>
        </p:txBody>
      </p:sp>
      <p:sp>
        <p:nvSpPr>
          <p:cNvPr id="6" name="TextBox 5"/>
          <p:cNvSpPr txBox="1"/>
          <p:nvPr/>
        </p:nvSpPr>
        <p:spPr>
          <a:xfrm>
            <a:off x="411480" y="2057400"/>
            <a:ext cx="3566160" cy="237744"/>
          </a:xfrm>
          <a:prstGeom prst="rect">
            <a:avLst/>
          </a:prstGeom>
          <a:noFill/>
        </p:spPr>
        <p:txBody>
          <a:bodyPr wrap="square">
            <a:spAutoFit/>
          </a:bodyPr>
          <a:lstStyle/>
          <a:p>
            <a:pPr algn="l"/>
            <a:r>
              <a:rPr sz="1100" b="0">
                <a:solidFill>
                  <a:srgbClr val="333333"/>
                </a:solidFill>
                <a:latin typeface="Consolas"/>
              </a:rPr>
              <a:t>- _id: ObjectId</a:t>
            </a:r>
          </a:p>
        </p:txBody>
      </p:sp>
      <p:sp>
        <p:nvSpPr>
          <p:cNvPr id="7" name="TextBox 6"/>
          <p:cNvSpPr txBox="1"/>
          <p:nvPr/>
        </p:nvSpPr>
        <p:spPr>
          <a:xfrm>
            <a:off x="411480" y="2286000"/>
            <a:ext cx="3566160" cy="237744"/>
          </a:xfrm>
          <a:prstGeom prst="rect">
            <a:avLst/>
          </a:prstGeom>
          <a:noFill/>
        </p:spPr>
        <p:txBody>
          <a:bodyPr wrap="square">
            <a:spAutoFit/>
          </a:bodyPr>
          <a:lstStyle/>
          <a:p>
            <a:pPr algn="l"/>
            <a:r>
              <a:rPr sz="1100" b="0">
                <a:solidFill>
                  <a:srgbClr val="333333"/>
                </a:solidFill>
                <a:latin typeface="Consolas"/>
              </a:rPr>
              <a:t>- name: String</a:t>
            </a:r>
          </a:p>
        </p:txBody>
      </p:sp>
      <p:sp>
        <p:nvSpPr>
          <p:cNvPr id="8" name="TextBox 7"/>
          <p:cNvSpPr txBox="1"/>
          <p:nvPr/>
        </p:nvSpPr>
        <p:spPr>
          <a:xfrm>
            <a:off x="411480" y="2514600"/>
            <a:ext cx="3566160" cy="237744"/>
          </a:xfrm>
          <a:prstGeom prst="rect">
            <a:avLst/>
          </a:prstGeom>
          <a:noFill/>
        </p:spPr>
        <p:txBody>
          <a:bodyPr wrap="square">
            <a:spAutoFit/>
          </a:bodyPr>
          <a:lstStyle/>
          <a:p>
            <a:pPr algn="l"/>
            <a:r>
              <a:rPr sz="1100" b="0">
                <a:solidFill>
                  <a:srgbClr val="333333"/>
                </a:solidFill>
                <a:latin typeface="Consolas"/>
              </a:rPr>
              <a:t>- email: String (unique)</a:t>
            </a:r>
          </a:p>
        </p:txBody>
      </p:sp>
      <p:sp>
        <p:nvSpPr>
          <p:cNvPr id="9" name="TextBox 8"/>
          <p:cNvSpPr txBox="1"/>
          <p:nvPr/>
        </p:nvSpPr>
        <p:spPr>
          <a:xfrm>
            <a:off x="411480" y="2743200"/>
            <a:ext cx="3566160" cy="237744"/>
          </a:xfrm>
          <a:prstGeom prst="rect">
            <a:avLst/>
          </a:prstGeom>
          <a:noFill/>
        </p:spPr>
        <p:txBody>
          <a:bodyPr wrap="square">
            <a:spAutoFit/>
          </a:bodyPr>
          <a:lstStyle/>
          <a:p>
            <a:pPr algn="l"/>
            <a:r>
              <a:rPr sz="1100" b="0">
                <a:solidFill>
                  <a:srgbClr val="333333"/>
                </a:solidFill>
                <a:latin typeface="Consolas"/>
              </a:rPr>
              <a:t>- password: String (hashed)</a:t>
            </a:r>
          </a:p>
        </p:txBody>
      </p:sp>
      <p:sp>
        <p:nvSpPr>
          <p:cNvPr id="10" name="TextBox 9"/>
          <p:cNvSpPr txBox="1"/>
          <p:nvPr/>
        </p:nvSpPr>
        <p:spPr>
          <a:xfrm>
            <a:off x="411480" y="2971800"/>
            <a:ext cx="3566160" cy="237744"/>
          </a:xfrm>
          <a:prstGeom prst="rect">
            <a:avLst/>
          </a:prstGeom>
          <a:noFill/>
        </p:spPr>
        <p:txBody>
          <a:bodyPr wrap="square">
            <a:spAutoFit/>
          </a:bodyPr>
          <a:lstStyle/>
          <a:p>
            <a:pPr algn="l"/>
            <a:r>
              <a:rPr sz="1100" b="0">
                <a:solidFill>
                  <a:srgbClr val="333333"/>
                </a:solidFill>
                <a:latin typeface="Consolas"/>
              </a:rPr>
              <a:t>- role: user | admin</a:t>
            </a:r>
          </a:p>
        </p:txBody>
      </p:sp>
      <p:sp>
        <p:nvSpPr>
          <p:cNvPr id="11" name="TextBox 10"/>
          <p:cNvSpPr txBox="1"/>
          <p:nvPr/>
        </p:nvSpPr>
        <p:spPr>
          <a:xfrm>
            <a:off x="411480" y="3200400"/>
            <a:ext cx="3566160" cy="237744"/>
          </a:xfrm>
          <a:prstGeom prst="rect">
            <a:avLst/>
          </a:prstGeom>
          <a:noFill/>
        </p:spPr>
        <p:txBody>
          <a:bodyPr wrap="square">
            <a:spAutoFit/>
          </a:bodyPr>
          <a:lstStyle/>
          <a:p>
            <a:pPr algn="l"/>
            <a:r>
              <a:rPr sz="1100" b="0">
                <a:solidFill>
                  <a:srgbClr val="333333"/>
                </a:solidFill>
                <a:latin typeface="Consolas"/>
              </a:rPr>
              <a:t>- resetPasswordOTP: String</a:t>
            </a:r>
          </a:p>
        </p:txBody>
      </p:sp>
      <p:sp>
        <p:nvSpPr>
          <p:cNvPr id="12" name="TextBox 11"/>
          <p:cNvSpPr txBox="1"/>
          <p:nvPr/>
        </p:nvSpPr>
        <p:spPr>
          <a:xfrm>
            <a:off x="411480" y="3429000"/>
            <a:ext cx="3566160" cy="237744"/>
          </a:xfrm>
          <a:prstGeom prst="rect">
            <a:avLst/>
          </a:prstGeom>
          <a:noFill/>
        </p:spPr>
        <p:txBody>
          <a:bodyPr wrap="square">
            <a:spAutoFit/>
          </a:bodyPr>
          <a:lstStyle/>
          <a:p>
            <a:pPr algn="l"/>
            <a:r>
              <a:rPr sz="1100" b="0">
                <a:solidFill>
                  <a:srgbClr val="333333"/>
                </a:solidFill>
                <a:latin typeface="Consolas"/>
              </a:rPr>
              <a:t>- resetPasswordOTPExpire: Date</a:t>
            </a:r>
          </a:p>
        </p:txBody>
      </p:sp>
      <p:sp>
        <p:nvSpPr>
          <p:cNvPr id="13" name="Rectangle 12"/>
          <p:cNvSpPr/>
          <p:nvPr/>
        </p:nvSpPr>
        <p:spPr>
          <a:xfrm>
            <a:off x="365760" y="3657600"/>
            <a:ext cx="3657600" cy="18288"/>
          </a:xfrm>
          <a:prstGeom prst="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730752"/>
            <a:ext cx="3566160" cy="237744"/>
          </a:xfrm>
          <a:prstGeom prst="rect">
            <a:avLst/>
          </a:prstGeom>
          <a:noFill/>
        </p:spPr>
        <p:txBody>
          <a:bodyPr wrap="square">
            <a:spAutoFit/>
          </a:bodyPr>
          <a:lstStyle/>
          <a:p>
            <a:pPr algn="l"/>
            <a:r>
              <a:rPr sz="1100" b="0">
                <a:solidFill>
                  <a:srgbClr val="3C6CA8"/>
                </a:solidFill>
                <a:latin typeface="Consolas"/>
              </a:rPr>
              <a:t>+ matchPassword()</a:t>
            </a:r>
          </a:p>
        </p:txBody>
      </p:sp>
      <p:sp>
        <p:nvSpPr>
          <p:cNvPr id="15" name="TextBox 14"/>
          <p:cNvSpPr txBox="1"/>
          <p:nvPr/>
        </p:nvSpPr>
        <p:spPr>
          <a:xfrm>
            <a:off x="411480" y="3959352"/>
            <a:ext cx="3566160" cy="237744"/>
          </a:xfrm>
          <a:prstGeom prst="rect">
            <a:avLst/>
          </a:prstGeom>
          <a:noFill/>
        </p:spPr>
        <p:txBody>
          <a:bodyPr wrap="square">
            <a:spAutoFit/>
          </a:bodyPr>
          <a:lstStyle/>
          <a:p>
            <a:pPr algn="l"/>
            <a:r>
              <a:rPr sz="1100" b="0">
                <a:solidFill>
                  <a:srgbClr val="3C6CA8"/>
                </a:solidFill>
                <a:latin typeface="Consolas"/>
              </a:rPr>
              <a:t>+ getSignedJwtToken()</a:t>
            </a:r>
          </a:p>
        </p:txBody>
      </p:sp>
      <p:sp>
        <p:nvSpPr>
          <p:cNvPr id="16" name="TextBox 15"/>
          <p:cNvSpPr txBox="1"/>
          <p:nvPr/>
        </p:nvSpPr>
        <p:spPr>
          <a:xfrm>
            <a:off x="411480" y="4187952"/>
            <a:ext cx="3566160" cy="237744"/>
          </a:xfrm>
          <a:prstGeom prst="rect">
            <a:avLst/>
          </a:prstGeom>
          <a:noFill/>
        </p:spPr>
        <p:txBody>
          <a:bodyPr wrap="square">
            <a:spAutoFit/>
          </a:bodyPr>
          <a:lstStyle/>
          <a:p>
            <a:pPr algn="l"/>
            <a:r>
              <a:rPr sz="1100" b="0">
                <a:solidFill>
                  <a:srgbClr val="3C6CA8"/>
                </a:solidFill>
                <a:latin typeface="Consolas"/>
              </a:rPr>
              <a:t>+ getResetPasswordOTP()</a:t>
            </a:r>
          </a:p>
        </p:txBody>
      </p:sp>
      <p:sp>
        <p:nvSpPr>
          <p:cNvPr id="17" name="Rectangle 16"/>
          <p:cNvSpPr/>
          <p:nvPr/>
        </p:nvSpPr>
        <p:spPr>
          <a:xfrm>
            <a:off x="4389120" y="1645920"/>
            <a:ext cx="3840480" cy="3273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1664208"/>
            <a:ext cx="3657600" cy="320040"/>
          </a:xfrm>
          <a:prstGeom prst="rect">
            <a:avLst/>
          </a:prstGeom>
          <a:noFill/>
        </p:spPr>
        <p:txBody>
          <a:bodyPr wrap="square">
            <a:spAutoFit/>
          </a:bodyPr>
          <a:lstStyle/>
          <a:p>
            <a:pPr algn="ctr"/>
            <a:r>
              <a:rPr sz="1600" b="1">
                <a:solidFill>
                  <a:srgbClr val="FFFFFF"/>
                </a:solidFill>
                <a:latin typeface="Times New Roman"/>
              </a:rPr>
              <a:t>Project</a:t>
            </a:r>
          </a:p>
        </p:txBody>
      </p:sp>
      <p:sp>
        <p:nvSpPr>
          <p:cNvPr id="20" name="TextBox 19"/>
          <p:cNvSpPr txBox="1"/>
          <p:nvPr/>
        </p:nvSpPr>
        <p:spPr>
          <a:xfrm>
            <a:off x="4526280" y="2057400"/>
            <a:ext cx="3566160" cy="237744"/>
          </a:xfrm>
          <a:prstGeom prst="rect">
            <a:avLst/>
          </a:prstGeom>
          <a:noFill/>
        </p:spPr>
        <p:txBody>
          <a:bodyPr wrap="square">
            <a:spAutoFit/>
          </a:bodyPr>
          <a:lstStyle/>
          <a:p>
            <a:pPr algn="l"/>
            <a:r>
              <a:rPr sz="1100" b="0">
                <a:solidFill>
                  <a:srgbClr val="333333"/>
                </a:solidFill>
                <a:latin typeface="Consolas"/>
              </a:rPr>
              <a:t>- _id: ObjectId</a:t>
            </a:r>
          </a:p>
        </p:txBody>
      </p:sp>
      <p:sp>
        <p:nvSpPr>
          <p:cNvPr id="21" name="TextBox 20"/>
          <p:cNvSpPr txBox="1"/>
          <p:nvPr/>
        </p:nvSpPr>
        <p:spPr>
          <a:xfrm>
            <a:off x="4526280" y="2286000"/>
            <a:ext cx="3566160" cy="237744"/>
          </a:xfrm>
          <a:prstGeom prst="rect">
            <a:avLst/>
          </a:prstGeom>
          <a:noFill/>
        </p:spPr>
        <p:txBody>
          <a:bodyPr wrap="square">
            <a:spAutoFit/>
          </a:bodyPr>
          <a:lstStyle/>
          <a:p>
            <a:pPr algn="l"/>
            <a:r>
              <a:rPr sz="1100" b="0">
                <a:solidFill>
                  <a:srgbClr val="333333"/>
                </a:solidFill>
                <a:latin typeface="Consolas"/>
              </a:rPr>
              <a:t>- name: String</a:t>
            </a:r>
          </a:p>
        </p:txBody>
      </p:sp>
      <p:sp>
        <p:nvSpPr>
          <p:cNvPr id="22" name="TextBox 21"/>
          <p:cNvSpPr txBox="1"/>
          <p:nvPr/>
        </p:nvSpPr>
        <p:spPr>
          <a:xfrm>
            <a:off x="4526280" y="2514600"/>
            <a:ext cx="3566160" cy="237744"/>
          </a:xfrm>
          <a:prstGeom prst="rect">
            <a:avLst/>
          </a:prstGeom>
          <a:noFill/>
        </p:spPr>
        <p:txBody>
          <a:bodyPr wrap="square">
            <a:spAutoFit/>
          </a:bodyPr>
          <a:lstStyle/>
          <a:p>
            <a:pPr algn="l"/>
            <a:r>
              <a:rPr sz="1100" b="0">
                <a:solidFill>
                  <a:srgbClr val="333333"/>
                </a:solidFill>
                <a:latin typeface="Consolas"/>
              </a:rPr>
              <a:t>- description: String</a:t>
            </a:r>
          </a:p>
        </p:txBody>
      </p:sp>
      <p:sp>
        <p:nvSpPr>
          <p:cNvPr id="23" name="TextBox 22"/>
          <p:cNvSpPr txBox="1"/>
          <p:nvPr/>
        </p:nvSpPr>
        <p:spPr>
          <a:xfrm>
            <a:off x="4526280" y="2743200"/>
            <a:ext cx="3566160" cy="237744"/>
          </a:xfrm>
          <a:prstGeom prst="rect">
            <a:avLst/>
          </a:prstGeom>
          <a:noFill/>
        </p:spPr>
        <p:txBody>
          <a:bodyPr wrap="square">
            <a:spAutoFit/>
          </a:bodyPr>
          <a:lstStyle/>
          <a:p>
            <a:pPr algn="l"/>
            <a:r>
              <a:rPr sz="1100" b="0">
                <a:solidFill>
                  <a:srgbClr val="333333"/>
                </a:solidFill>
                <a:latin typeface="Consolas"/>
              </a:rPr>
              <a:t>- startDate/endDate: Date</a:t>
            </a:r>
          </a:p>
        </p:txBody>
      </p:sp>
      <p:sp>
        <p:nvSpPr>
          <p:cNvPr id="24" name="TextBox 23"/>
          <p:cNvSpPr txBox="1"/>
          <p:nvPr/>
        </p:nvSpPr>
        <p:spPr>
          <a:xfrm>
            <a:off x="4526280" y="2971800"/>
            <a:ext cx="3566160" cy="237744"/>
          </a:xfrm>
          <a:prstGeom prst="rect">
            <a:avLst/>
          </a:prstGeom>
          <a:noFill/>
        </p:spPr>
        <p:txBody>
          <a:bodyPr wrap="square">
            <a:spAutoFit/>
          </a:bodyPr>
          <a:lstStyle/>
          <a:p>
            <a:pPr algn="l"/>
            <a:r>
              <a:rPr sz="1100" b="0">
                <a:solidFill>
                  <a:srgbClr val="333333"/>
                </a:solidFill>
                <a:latin typeface="Consolas"/>
              </a:rPr>
              <a:t>- status: Enum(4 states)</a:t>
            </a:r>
          </a:p>
        </p:txBody>
      </p:sp>
      <p:sp>
        <p:nvSpPr>
          <p:cNvPr id="25" name="TextBox 24"/>
          <p:cNvSpPr txBox="1"/>
          <p:nvPr/>
        </p:nvSpPr>
        <p:spPr>
          <a:xfrm>
            <a:off x="4526280" y="3200400"/>
            <a:ext cx="3566160" cy="237744"/>
          </a:xfrm>
          <a:prstGeom prst="rect">
            <a:avLst/>
          </a:prstGeom>
          <a:noFill/>
        </p:spPr>
        <p:txBody>
          <a:bodyPr wrap="square">
            <a:spAutoFit/>
          </a:bodyPr>
          <a:lstStyle/>
          <a:p>
            <a:pPr algn="l"/>
            <a:r>
              <a:rPr sz="1100" b="0">
                <a:solidFill>
                  <a:srgbClr val="333333"/>
                </a:solidFill>
                <a:latin typeface="Consolas"/>
              </a:rPr>
              <a:t>- completionPercentage: Number</a:t>
            </a:r>
          </a:p>
        </p:txBody>
      </p:sp>
      <p:sp>
        <p:nvSpPr>
          <p:cNvPr id="26" name="TextBox 25"/>
          <p:cNvSpPr txBox="1"/>
          <p:nvPr/>
        </p:nvSpPr>
        <p:spPr>
          <a:xfrm>
            <a:off x="4526280" y="3429000"/>
            <a:ext cx="3566160" cy="237744"/>
          </a:xfrm>
          <a:prstGeom prst="rect">
            <a:avLst/>
          </a:prstGeom>
          <a:noFill/>
        </p:spPr>
        <p:txBody>
          <a:bodyPr wrap="square">
            <a:spAutoFit/>
          </a:bodyPr>
          <a:lstStyle/>
          <a:p>
            <a:pPr algn="l"/>
            <a:r>
              <a:rPr sz="1100" b="0">
                <a:solidFill>
                  <a:srgbClr val="333333"/>
                </a:solidFill>
                <a:latin typeface="Consolas"/>
              </a:rPr>
              <a:t>- priority: Enum(4 levels)</a:t>
            </a:r>
          </a:p>
        </p:txBody>
      </p:sp>
      <p:sp>
        <p:nvSpPr>
          <p:cNvPr id="27" name="TextBox 26"/>
          <p:cNvSpPr txBox="1"/>
          <p:nvPr/>
        </p:nvSpPr>
        <p:spPr>
          <a:xfrm>
            <a:off x="4526280" y="3657600"/>
            <a:ext cx="3566160" cy="237744"/>
          </a:xfrm>
          <a:prstGeom prst="rect">
            <a:avLst/>
          </a:prstGeom>
          <a:noFill/>
        </p:spPr>
        <p:txBody>
          <a:bodyPr wrap="square">
            <a:spAutoFit/>
          </a:bodyPr>
          <a:lstStyle/>
          <a:p>
            <a:pPr algn="l"/>
            <a:r>
              <a:rPr sz="1100" b="0">
                <a:solidFill>
                  <a:srgbClr val="333333"/>
                </a:solidFill>
                <a:latin typeface="Consolas"/>
              </a:rPr>
              <a:t>- manager: String</a:t>
            </a:r>
          </a:p>
        </p:txBody>
      </p:sp>
      <p:sp>
        <p:nvSpPr>
          <p:cNvPr id="28" name="TextBox 27"/>
          <p:cNvSpPr txBox="1"/>
          <p:nvPr/>
        </p:nvSpPr>
        <p:spPr>
          <a:xfrm>
            <a:off x="4526280" y="3886200"/>
            <a:ext cx="3566160" cy="237744"/>
          </a:xfrm>
          <a:prstGeom prst="rect">
            <a:avLst/>
          </a:prstGeom>
          <a:noFill/>
        </p:spPr>
        <p:txBody>
          <a:bodyPr wrap="square">
            <a:spAutoFit/>
          </a:bodyPr>
          <a:lstStyle/>
          <a:p>
            <a:pPr algn="l"/>
            <a:r>
              <a:rPr sz="1100" b="0">
                <a:solidFill>
                  <a:srgbClr val="333333"/>
                </a:solidFill>
                <a:latin typeface="Consolas"/>
              </a:rPr>
              <a:t>- budget: Number</a:t>
            </a:r>
          </a:p>
        </p:txBody>
      </p:sp>
      <p:sp>
        <p:nvSpPr>
          <p:cNvPr id="29" name="Rectangle 28"/>
          <p:cNvSpPr/>
          <p:nvPr/>
        </p:nvSpPr>
        <p:spPr>
          <a:xfrm>
            <a:off x="4480560" y="4114800"/>
            <a:ext cx="3657600" cy="18288"/>
          </a:xfrm>
          <a:prstGeom prst="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187952"/>
            <a:ext cx="3566160" cy="237744"/>
          </a:xfrm>
          <a:prstGeom prst="rect">
            <a:avLst/>
          </a:prstGeom>
          <a:noFill/>
        </p:spPr>
        <p:txBody>
          <a:bodyPr wrap="square">
            <a:spAutoFit/>
          </a:bodyPr>
          <a:lstStyle/>
          <a:p>
            <a:pPr algn="l"/>
            <a:r>
              <a:rPr sz="1100" b="0">
                <a:solidFill>
                  <a:srgbClr val="3C6CA8"/>
                </a:solidFill>
                <a:latin typeface="Consolas"/>
              </a:rPr>
              <a:t>+ daysRemaining()</a:t>
            </a:r>
          </a:p>
        </p:txBody>
      </p:sp>
      <p:sp>
        <p:nvSpPr>
          <p:cNvPr id="31" name="TextBox 30"/>
          <p:cNvSpPr txBox="1"/>
          <p:nvPr/>
        </p:nvSpPr>
        <p:spPr>
          <a:xfrm>
            <a:off x="4526280" y="4416552"/>
            <a:ext cx="3566160" cy="237744"/>
          </a:xfrm>
          <a:prstGeom prst="rect">
            <a:avLst/>
          </a:prstGeom>
          <a:noFill/>
        </p:spPr>
        <p:txBody>
          <a:bodyPr wrap="square">
            <a:spAutoFit/>
          </a:bodyPr>
          <a:lstStyle/>
          <a:p>
            <a:pPr algn="l"/>
            <a:r>
              <a:rPr sz="1100" b="0">
                <a:solidFill>
                  <a:srgbClr val="3C6CA8"/>
                </a:solidFill>
                <a:latin typeface="Consolas"/>
              </a:rPr>
              <a:t>+ totalDuration()</a:t>
            </a:r>
          </a:p>
        </p:txBody>
      </p:sp>
      <p:sp>
        <p:nvSpPr>
          <p:cNvPr id="32" name="Rectangle 31"/>
          <p:cNvSpPr/>
          <p:nvPr/>
        </p:nvSpPr>
        <p:spPr>
          <a:xfrm>
            <a:off x="8686800" y="1645920"/>
            <a:ext cx="3840480" cy="3529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8680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0" y="1664208"/>
            <a:ext cx="3657600" cy="320040"/>
          </a:xfrm>
          <a:prstGeom prst="rect">
            <a:avLst/>
          </a:prstGeom>
          <a:noFill/>
        </p:spPr>
        <p:txBody>
          <a:bodyPr wrap="square">
            <a:spAutoFit/>
          </a:bodyPr>
          <a:lstStyle/>
          <a:p>
            <a:pPr algn="ctr"/>
            <a:r>
              <a:rPr sz="1600" b="1">
                <a:solidFill>
                  <a:srgbClr val="FFFFFF"/>
                </a:solidFill>
                <a:latin typeface="Times New Roman"/>
              </a:rPr>
              <a:t>Task</a:t>
            </a:r>
          </a:p>
        </p:txBody>
      </p:sp>
      <p:sp>
        <p:nvSpPr>
          <p:cNvPr id="35" name="TextBox 34"/>
          <p:cNvSpPr txBox="1"/>
          <p:nvPr/>
        </p:nvSpPr>
        <p:spPr>
          <a:xfrm>
            <a:off x="8823960" y="2057400"/>
            <a:ext cx="3566160" cy="237744"/>
          </a:xfrm>
          <a:prstGeom prst="rect">
            <a:avLst/>
          </a:prstGeom>
          <a:noFill/>
        </p:spPr>
        <p:txBody>
          <a:bodyPr wrap="square">
            <a:spAutoFit/>
          </a:bodyPr>
          <a:lstStyle/>
          <a:p>
            <a:pPr algn="l"/>
            <a:r>
              <a:rPr sz="1100" b="0">
                <a:solidFill>
                  <a:srgbClr val="333333"/>
                </a:solidFill>
                <a:latin typeface="Consolas"/>
              </a:rPr>
              <a:t>- _id: ObjectId</a:t>
            </a:r>
          </a:p>
        </p:txBody>
      </p:sp>
      <p:sp>
        <p:nvSpPr>
          <p:cNvPr id="36" name="TextBox 35"/>
          <p:cNvSpPr txBox="1"/>
          <p:nvPr/>
        </p:nvSpPr>
        <p:spPr>
          <a:xfrm>
            <a:off x="8823960" y="2286000"/>
            <a:ext cx="3566160" cy="237744"/>
          </a:xfrm>
          <a:prstGeom prst="rect">
            <a:avLst/>
          </a:prstGeom>
          <a:noFill/>
        </p:spPr>
        <p:txBody>
          <a:bodyPr wrap="square">
            <a:spAutoFit/>
          </a:bodyPr>
          <a:lstStyle/>
          <a:p>
            <a:pPr algn="l"/>
            <a:r>
              <a:rPr sz="1100" b="0">
                <a:solidFill>
                  <a:srgbClr val="333333"/>
                </a:solidFill>
                <a:latin typeface="Consolas"/>
              </a:rPr>
              <a:t>- projectId: → Project</a:t>
            </a:r>
          </a:p>
        </p:txBody>
      </p:sp>
      <p:sp>
        <p:nvSpPr>
          <p:cNvPr id="37" name="TextBox 36"/>
          <p:cNvSpPr txBox="1"/>
          <p:nvPr/>
        </p:nvSpPr>
        <p:spPr>
          <a:xfrm>
            <a:off x="8823960" y="2514600"/>
            <a:ext cx="3566160" cy="237744"/>
          </a:xfrm>
          <a:prstGeom prst="rect">
            <a:avLst/>
          </a:prstGeom>
          <a:noFill/>
        </p:spPr>
        <p:txBody>
          <a:bodyPr wrap="square">
            <a:spAutoFit/>
          </a:bodyPr>
          <a:lstStyle/>
          <a:p>
            <a:pPr algn="l"/>
            <a:r>
              <a:rPr sz="1100" b="0">
                <a:solidFill>
                  <a:srgbClr val="333333"/>
                </a:solidFill>
                <a:latin typeface="Consolas"/>
              </a:rPr>
              <a:t>- title: String</a:t>
            </a:r>
          </a:p>
        </p:txBody>
      </p:sp>
      <p:sp>
        <p:nvSpPr>
          <p:cNvPr id="38" name="TextBox 37"/>
          <p:cNvSpPr txBox="1"/>
          <p:nvPr/>
        </p:nvSpPr>
        <p:spPr>
          <a:xfrm>
            <a:off x="8823960" y="2743200"/>
            <a:ext cx="3566160" cy="237744"/>
          </a:xfrm>
          <a:prstGeom prst="rect">
            <a:avLst/>
          </a:prstGeom>
          <a:noFill/>
        </p:spPr>
        <p:txBody>
          <a:bodyPr wrap="square">
            <a:spAutoFit/>
          </a:bodyPr>
          <a:lstStyle/>
          <a:p>
            <a:pPr algn="l"/>
            <a:r>
              <a:rPr sz="1100" b="0">
                <a:solidFill>
                  <a:srgbClr val="333333"/>
                </a:solidFill>
                <a:latin typeface="Consolas"/>
              </a:rPr>
              <a:t>- startDate/endDate: Date</a:t>
            </a:r>
          </a:p>
        </p:txBody>
      </p:sp>
      <p:sp>
        <p:nvSpPr>
          <p:cNvPr id="39" name="TextBox 38"/>
          <p:cNvSpPr txBox="1"/>
          <p:nvPr/>
        </p:nvSpPr>
        <p:spPr>
          <a:xfrm>
            <a:off x="8823960" y="2971800"/>
            <a:ext cx="3566160" cy="237744"/>
          </a:xfrm>
          <a:prstGeom prst="rect">
            <a:avLst/>
          </a:prstGeom>
          <a:noFill/>
        </p:spPr>
        <p:txBody>
          <a:bodyPr wrap="square">
            <a:spAutoFit/>
          </a:bodyPr>
          <a:lstStyle/>
          <a:p>
            <a:pPr algn="l"/>
            <a:r>
              <a:rPr sz="1100" b="0">
                <a:solidFill>
                  <a:srgbClr val="333333"/>
                </a:solidFill>
                <a:latin typeface="Consolas"/>
              </a:rPr>
              <a:t>- status: Enum(4)</a:t>
            </a:r>
          </a:p>
        </p:txBody>
      </p:sp>
      <p:sp>
        <p:nvSpPr>
          <p:cNvPr id="40" name="TextBox 39"/>
          <p:cNvSpPr txBox="1"/>
          <p:nvPr/>
        </p:nvSpPr>
        <p:spPr>
          <a:xfrm>
            <a:off x="8823960" y="3200400"/>
            <a:ext cx="3566160" cy="237744"/>
          </a:xfrm>
          <a:prstGeom prst="rect">
            <a:avLst/>
          </a:prstGeom>
          <a:noFill/>
        </p:spPr>
        <p:txBody>
          <a:bodyPr wrap="square">
            <a:spAutoFit/>
          </a:bodyPr>
          <a:lstStyle/>
          <a:p>
            <a:pPr algn="l"/>
            <a:r>
              <a:rPr sz="1100" b="0">
                <a:solidFill>
                  <a:srgbClr val="333333"/>
                </a:solidFill>
                <a:latin typeface="Consolas"/>
              </a:rPr>
              <a:t>- assignedResource: → Resource</a:t>
            </a:r>
          </a:p>
        </p:txBody>
      </p:sp>
      <p:sp>
        <p:nvSpPr>
          <p:cNvPr id="41" name="TextBox 40"/>
          <p:cNvSpPr txBox="1"/>
          <p:nvPr/>
        </p:nvSpPr>
        <p:spPr>
          <a:xfrm>
            <a:off x="8823960" y="3429000"/>
            <a:ext cx="3566160" cy="237744"/>
          </a:xfrm>
          <a:prstGeom prst="rect">
            <a:avLst/>
          </a:prstGeom>
          <a:noFill/>
        </p:spPr>
        <p:txBody>
          <a:bodyPr wrap="square">
            <a:spAutoFit/>
          </a:bodyPr>
          <a:lstStyle/>
          <a:p>
            <a:pPr algn="l"/>
            <a:r>
              <a:rPr sz="1100" b="0">
                <a:solidFill>
                  <a:srgbClr val="333333"/>
                </a:solidFill>
                <a:latin typeface="Consolas"/>
              </a:rPr>
              <a:t>- dependencyTaskId: → Task</a:t>
            </a:r>
          </a:p>
        </p:txBody>
      </p:sp>
      <p:sp>
        <p:nvSpPr>
          <p:cNvPr id="42" name="TextBox 41"/>
          <p:cNvSpPr txBox="1"/>
          <p:nvPr/>
        </p:nvSpPr>
        <p:spPr>
          <a:xfrm>
            <a:off x="8823960" y="3657600"/>
            <a:ext cx="3566160" cy="237744"/>
          </a:xfrm>
          <a:prstGeom prst="rect">
            <a:avLst/>
          </a:prstGeom>
          <a:noFill/>
        </p:spPr>
        <p:txBody>
          <a:bodyPr wrap="square">
            <a:spAutoFit/>
          </a:bodyPr>
          <a:lstStyle/>
          <a:p>
            <a:pPr algn="l"/>
            <a:r>
              <a:rPr sz="1100" b="0">
                <a:solidFill>
                  <a:srgbClr val="333333"/>
                </a:solidFill>
                <a:latin typeface="Consolas"/>
              </a:rPr>
              <a:t>- milestone: Boolean</a:t>
            </a:r>
          </a:p>
        </p:txBody>
      </p:sp>
      <p:sp>
        <p:nvSpPr>
          <p:cNvPr id="43" name="TextBox 42"/>
          <p:cNvSpPr txBox="1"/>
          <p:nvPr/>
        </p:nvSpPr>
        <p:spPr>
          <a:xfrm>
            <a:off x="8823960" y="3886200"/>
            <a:ext cx="3566160" cy="237744"/>
          </a:xfrm>
          <a:prstGeom prst="rect">
            <a:avLst/>
          </a:prstGeom>
          <a:noFill/>
        </p:spPr>
        <p:txBody>
          <a:bodyPr wrap="square">
            <a:spAutoFit/>
          </a:bodyPr>
          <a:lstStyle/>
          <a:p>
            <a:pPr algn="l"/>
            <a:r>
              <a:rPr sz="1100" b="0">
                <a:solidFill>
                  <a:srgbClr val="333333"/>
                </a:solidFill>
                <a:latin typeface="Consolas"/>
              </a:rPr>
              <a:t>- progress: Number</a:t>
            </a:r>
          </a:p>
        </p:txBody>
      </p:sp>
      <p:sp>
        <p:nvSpPr>
          <p:cNvPr id="44" name="TextBox 43"/>
          <p:cNvSpPr txBox="1"/>
          <p:nvPr/>
        </p:nvSpPr>
        <p:spPr>
          <a:xfrm>
            <a:off x="8823960" y="4114800"/>
            <a:ext cx="3566160" cy="237744"/>
          </a:xfrm>
          <a:prstGeom prst="rect">
            <a:avLst/>
          </a:prstGeom>
          <a:noFill/>
        </p:spPr>
        <p:txBody>
          <a:bodyPr wrap="square">
            <a:spAutoFit/>
          </a:bodyPr>
          <a:lstStyle/>
          <a:p>
            <a:pPr algn="l"/>
            <a:r>
              <a:rPr sz="1100" b="0">
                <a:solidFill>
                  <a:srgbClr val="333333"/>
                </a:solidFill>
                <a:latin typeface="Consolas"/>
              </a:rPr>
              <a:t>- priority: Enum(4)</a:t>
            </a:r>
          </a:p>
        </p:txBody>
      </p:sp>
      <p:sp>
        <p:nvSpPr>
          <p:cNvPr id="45" name="Rectangle 44"/>
          <p:cNvSpPr/>
          <p:nvPr/>
        </p:nvSpPr>
        <p:spPr>
          <a:xfrm>
            <a:off x="8778240" y="4343400"/>
            <a:ext cx="3657600" cy="18288"/>
          </a:xfrm>
          <a:prstGeom prst="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3960" y="4416552"/>
            <a:ext cx="3566160" cy="237744"/>
          </a:xfrm>
          <a:prstGeom prst="rect">
            <a:avLst/>
          </a:prstGeom>
          <a:noFill/>
        </p:spPr>
        <p:txBody>
          <a:bodyPr wrap="square">
            <a:spAutoFit/>
          </a:bodyPr>
          <a:lstStyle/>
          <a:p>
            <a:pPr algn="l"/>
            <a:r>
              <a:rPr sz="1100" b="0">
                <a:solidFill>
                  <a:srgbClr val="3C6CA8"/>
                </a:solidFill>
                <a:latin typeface="Consolas"/>
              </a:rPr>
              <a:t>+ duration()</a:t>
            </a:r>
          </a:p>
        </p:txBody>
      </p:sp>
      <p:sp>
        <p:nvSpPr>
          <p:cNvPr id="47" name="TextBox 46"/>
          <p:cNvSpPr txBox="1"/>
          <p:nvPr/>
        </p:nvSpPr>
        <p:spPr>
          <a:xfrm>
            <a:off x="8823960" y="4645152"/>
            <a:ext cx="3566160" cy="237744"/>
          </a:xfrm>
          <a:prstGeom prst="rect">
            <a:avLst/>
          </a:prstGeom>
          <a:noFill/>
        </p:spPr>
        <p:txBody>
          <a:bodyPr wrap="square">
            <a:spAutoFit/>
          </a:bodyPr>
          <a:lstStyle/>
          <a:p>
            <a:pPr algn="l"/>
            <a:r>
              <a:rPr sz="1100" b="0">
                <a:solidFill>
                  <a:srgbClr val="3C6CA8"/>
                </a:solidFill>
                <a:latin typeface="Consolas"/>
              </a:rPr>
              <a:t>+ isOverdue()</a:t>
            </a:r>
          </a:p>
        </p:txBody>
      </p:sp>
      <p:sp>
        <p:nvSpPr>
          <p:cNvPr id="48" name="Rectangle 47"/>
          <p:cNvSpPr/>
          <p:nvPr/>
        </p:nvSpPr>
        <p:spPr>
          <a:xfrm>
            <a:off x="12984480" y="1645920"/>
            <a:ext cx="3840480" cy="3273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298448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075920" y="1664208"/>
            <a:ext cx="3657600" cy="320040"/>
          </a:xfrm>
          <a:prstGeom prst="rect">
            <a:avLst/>
          </a:prstGeom>
          <a:noFill/>
        </p:spPr>
        <p:txBody>
          <a:bodyPr wrap="square">
            <a:spAutoFit/>
          </a:bodyPr>
          <a:lstStyle/>
          <a:p>
            <a:pPr algn="ctr"/>
            <a:r>
              <a:rPr sz="1600" b="1">
                <a:solidFill>
                  <a:srgbClr val="FFFFFF"/>
                </a:solidFill>
                <a:latin typeface="Times New Roman"/>
              </a:rPr>
              <a:t>Resource</a:t>
            </a:r>
          </a:p>
        </p:txBody>
      </p:sp>
      <p:sp>
        <p:nvSpPr>
          <p:cNvPr id="51" name="TextBox 50"/>
          <p:cNvSpPr txBox="1"/>
          <p:nvPr/>
        </p:nvSpPr>
        <p:spPr>
          <a:xfrm>
            <a:off x="13121640" y="2057400"/>
            <a:ext cx="3566160" cy="237744"/>
          </a:xfrm>
          <a:prstGeom prst="rect">
            <a:avLst/>
          </a:prstGeom>
          <a:noFill/>
        </p:spPr>
        <p:txBody>
          <a:bodyPr wrap="square">
            <a:spAutoFit/>
          </a:bodyPr>
          <a:lstStyle/>
          <a:p>
            <a:pPr algn="l"/>
            <a:r>
              <a:rPr sz="1100" b="0">
                <a:solidFill>
                  <a:srgbClr val="333333"/>
                </a:solidFill>
                <a:latin typeface="Consolas"/>
              </a:rPr>
              <a:t>- _id: ObjectId</a:t>
            </a:r>
          </a:p>
        </p:txBody>
      </p:sp>
      <p:sp>
        <p:nvSpPr>
          <p:cNvPr id="52" name="TextBox 51"/>
          <p:cNvSpPr txBox="1"/>
          <p:nvPr/>
        </p:nvSpPr>
        <p:spPr>
          <a:xfrm>
            <a:off x="13121640" y="2286000"/>
            <a:ext cx="3566160" cy="237744"/>
          </a:xfrm>
          <a:prstGeom prst="rect">
            <a:avLst/>
          </a:prstGeom>
          <a:noFill/>
        </p:spPr>
        <p:txBody>
          <a:bodyPr wrap="square">
            <a:spAutoFit/>
          </a:bodyPr>
          <a:lstStyle/>
          <a:p>
            <a:pPr algn="l"/>
            <a:r>
              <a:rPr sz="1100" b="0">
                <a:solidFill>
                  <a:srgbClr val="333333"/>
                </a:solidFill>
                <a:latin typeface="Consolas"/>
              </a:rPr>
              <a:t>- name: String</a:t>
            </a:r>
          </a:p>
        </p:txBody>
      </p:sp>
      <p:sp>
        <p:nvSpPr>
          <p:cNvPr id="53" name="TextBox 52"/>
          <p:cNvSpPr txBox="1"/>
          <p:nvPr/>
        </p:nvSpPr>
        <p:spPr>
          <a:xfrm>
            <a:off x="13121640" y="2514600"/>
            <a:ext cx="3566160" cy="237744"/>
          </a:xfrm>
          <a:prstGeom prst="rect">
            <a:avLst/>
          </a:prstGeom>
          <a:noFill/>
        </p:spPr>
        <p:txBody>
          <a:bodyPr wrap="square">
            <a:spAutoFit/>
          </a:bodyPr>
          <a:lstStyle/>
          <a:p>
            <a:pPr algn="l"/>
            <a:r>
              <a:rPr sz="1100" b="0">
                <a:solidFill>
                  <a:srgbClr val="333333"/>
                </a:solidFill>
                <a:latin typeface="Consolas"/>
              </a:rPr>
              <a:t>- email: String</a:t>
            </a:r>
          </a:p>
        </p:txBody>
      </p:sp>
      <p:sp>
        <p:nvSpPr>
          <p:cNvPr id="54" name="TextBox 53"/>
          <p:cNvSpPr txBox="1"/>
          <p:nvPr/>
        </p:nvSpPr>
        <p:spPr>
          <a:xfrm>
            <a:off x="13121640" y="2743200"/>
            <a:ext cx="3566160" cy="237744"/>
          </a:xfrm>
          <a:prstGeom prst="rect">
            <a:avLst/>
          </a:prstGeom>
          <a:noFill/>
        </p:spPr>
        <p:txBody>
          <a:bodyPr wrap="square">
            <a:spAutoFit/>
          </a:bodyPr>
          <a:lstStyle/>
          <a:p>
            <a:pPr algn="l"/>
            <a:r>
              <a:rPr sz="1100" b="0">
                <a:solidFill>
                  <a:srgbClr val="333333"/>
                </a:solidFill>
                <a:latin typeface="Consolas"/>
              </a:rPr>
              <a:t>- role: String</a:t>
            </a:r>
          </a:p>
        </p:txBody>
      </p:sp>
      <p:sp>
        <p:nvSpPr>
          <p:cNvPr id="55" name="TextBox 54"/>
          <p:cNvSpPr txBox="1"/>
          <p:nvPr/>
        </p:nvSpPr>
        <p:spPr>
          <a:xfrm>
            <a:off x="13121640" y="2971800"/>
            <a:ext cx="3566160" cy="237744"/>
          </a:xfrm>
          <a:prstGeom prst="rect">
            <a:avLst/>
          </a:prstGeom>
          <a:noFill/>
        </p:spPr>
        <p:txBody>
          <a:bodyPr wrap="square">
            <a:spAutoFit/>
          </a:bodyPr>
          <a:lstStyle/>
          <a:p>
            <a:pPr algn="l"/>
            <a:r>
              <a:rPr sz="1100" b="0">
                <a:solidFill>
                  <a:srgbClr val="333333"/>
                </a:solidFill>
                <a:latin typeface="Consolas"/>
              </a:rPr>
              <a:t>- department: String</a:t>
            </a:r>
          </a:p>
        </p:txBody>
      </p:sp>
      <p:sp>
        <p:nvSpPr>
          <p:cNvPr id="56" name="TextBox 55"/>
          <p:cNvSpPr txBox="1"/>
          <p:nvPr/>
        </p:nvSpPr>
        <p:spPr>
          <a:xfrm>
            <a:off x="13121640" y="3200400"/>
            <a:ext cx="3566160" cy="237744"/>
          </a:xfrm>
          <a:prstGeom prst="rect">
            <a:avLst/>
          </a:prstGeom>
          <a:noFill/>
        </p:spPr>
        <p:txBody>
          <a:bodyPr wrap="square">
            <a:spAutoFit/>
          </a:bodyPr>
          <a:lstStyle/>
          <a:p>
            <a:pPr algn="l"/>
            <a:r>
              <a:rPr sz="1100" b="0">
                <a:solidFill>
                  <a:srgbClr val="333333"/>
                </a:solidFill>
                <a:latin typeface="Consolas"/>
              </a:rPr>
              <a:t>- skills: String[]</a:t>
            </a:r>
          </a:p>
        </p:txBody>
      </p:sp>
      <p:sp>
        <p:nvSpPr>
          <p:cNvPr id="57" name="TextBox 56"/>
          <p:cNvSpPr txBox="1"/>
          <p:nvPr/>
        </p:nvSpPr>
        <p:spPr>
          <a:xfrm>
            <a:off x="13121640" y="3429000"/>
            <a:ext cx="3566160" cy="237744"/>
          </a:xfrm>
          <a:prstGeom prst="rect">
            <a:avLst/>
          </a:prstGeom>
          <a:noFill/>
        </p:spPr>
        <p:txBody>
          <a:bodyPr wrap="square">
            <a:spAutoFit/>
          </a:bodyPr>
          <a:lstStyle/>
          <a:p>
            <a:pPr algn="l"/>
            <a:r>
              <a:rPr sz="1100" b="0">
                <a:solidFill>
                  <a:srgbClr val="333333"/>
                </a:solidFill>
                <a:latin typeface="Consolas"/>
              </a:rPr>
              <a:t>- availability: Boolean</a:t>
            </a:r>
          </a:p>
        </p:txBody>
      </p:sp>
      <p:sp>
        <p:nvSpPr>
          <p:cNvPr id="58" name="TextBox 57"/>
          <p:cNvSpPr txBox="1"/>
          <p:nvPr/>
        </p:nvSpPr>
        <p:spPr>
          <a:xfrm>
            <a:off x="13121640" y="3657600"/>
            <a:ext cx="3566160" cy="237744"/>
          </a:xfrm>
          <a:prstGeom prst="rect">
            <a:avLst/>
          </a:prstGeom>
          <a:noFill/>
        </p:spPr>
        <p:txBody>
          <a:bodyPr wrap="square">
            <a:spAutoFit/>
          </a:bodyPr>
          <a:lstStyle/>
          <a:p>
            <a:pPr algn="l"/>
            <a:r>
              <a:rPr sz="1100" b="0">
                <a:solidFill>
                  <a:srgbClr val="333333"/>
                </a:solidFill>
                <a:latin typeface="Consolas"/>
              </a:rPr>
              <a:t>- maxHoursPerWeek: Number</a:t>
            </a:r>
          </a:p>
        </p:txBody>
      </p:sp>
      <p:sp>
        <p:nvSpPr>
          <p:cNvPr id="59" name="TextBox 58"/>
          <p:cNvSpPr txBox="1"/>
          <p:nvPr/>
        </p:nvSpPr>
        <p:spPr>
          <a:xfrm>
            <a:off x="13121640" y="3886200"/>
            <a:ext cx="3566160" cy="237744"/>
          </a:xfrm>
          <a:prstGeom prst="rect">
            <a:avLst/>
          </a:prstGeom>
          <a:noFill/>
        </p:spPr>
        <p:txBody>
          <a:bodyPr wrap="square">
            <a:spAutoFit/>
          </a:bodyPr>
          <a:lstStyle/>
          <a:p>
            <a:pPr algn="l"/>
            <a:r>
              <a:rPr sz="1100" b="0">
                <a:solidFill>
                  <a:srgbClr val="333333"/>
                </a:solidFill>
                <a:latin typeface="Consolas"/>
              </a:rPr>
              <a:t>- currentWorkload: Number</a:t>
            </a:r>
          </a:p>
        </p:txBody>
      </p:sp>
      <p:sp>
        <p:nvSpPr>
          <p:cNvPr id="60" name="Rectangle 59"/>
          <p:cNvSpPr/>
          <p:nvPr/>
        </p:nvSpPr>
        <p:spPr>
          <a:xfrm>
            <a:off x="13075920" y="4114800"/>
            <a:ext cx="3657600" cy="18288"/>
          </a:xfrm>
          <a:prstGeom prst="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3121640" y="4187952"/>
            <a:ext cx="3566160" cy="237744"/>
          </a:xfrm>
          <a:prstGeom prst="rect">
            <a:avLst/>
          </a:prstGeom>
          <a:noFill/>
        </p:spPr>
        <p:txBody>
          <a:bodyPr wrap="square">
            <a:spAutoFit/>
          </a:bodyPr>
          <a:lstStyle/>
          <a:p>
            <a:pPr algn="l"/>
            <a:r>
              <a:rPr sz="1100" b="0">
                <a:solidFill>
                  <a:srgbClr val="3C6CA8"/>
                </a:solidFill>
                <a:latin typeface="Consolas"/>
              </a:rPr>
              <a:t>+ utilizationPct()</a:t>
            </a:r>
          </a:p>
        </p:txBody>
      </p:sp>
      <p:sp>
        <p:nvSpPr>
          <p:cNvPr id="62" name="TextBox 61"/>
          <p:cNvSpPr txBox="1"/>
          <p:nvPr/>
        </p:nvSpPr>
        <p:spPr>
          <a:xfrm>
            <a:off x="13121640" y="4416552"/>
            <a:ext cx="3566160" cy="237744"/>
          </a:xfrm>
          <a:prstGeom prst="rect">
            <a:avLst/>
          </a:prstGeom>
          <a:noFill/>
        </p:spPr>
        <p:txBody>
          <a:bodyPr wrap="square">
            <a:spAutoFit/>
          </a:bodyPr>
          <a:lstStyle/>
          <a:p>
            <a:pPr algn="l"/>
            <a:r>
              <a:rPr sz="1100" b="0">
                <a:solidFill>
                  <a:srgbClr val="3C6CA8"/>
                </a:solidFill>
                <a:latin typeface="Consolas"/>
              </a:rPr>
              <a:t>+ availabilityStatus()</a:t>
            </a:r>
          </a:p>
        </p:txBody>
      </p:sp>
      <p:sp>
        <p:nvSpPr>
          <p:cNvPr id="63" name="TextBox 62"/>
          <p:cNvSpPr txBox="1"/>
          <p:nvPr/>
        </p:nvSpPr>
        <p:spPr>
          <a:xfrm>
            <a:off x="274320" y="7772400"/>
            <a:ext cx="16459200" cy="457200"/>
          </a:xfrm>
          <a:prstGeom prst="rect">
            <a:avLst/>
          </a:prstGeom>
          <a:noFill/>
        </p:spPr>
        <p:txBody>
          <a:bodyPr wrap="square">
            <a:spAutoFit/>
          </a:bodyPr>
          <a:lstStyle/>
          <a:p>
            <a:pPr algn="ctr"/>
            <a:r>
              <a:rPr sz="1500" b="1">
                <a:solidFill>
                  <a:srgbClr val="1E3A5F"/>
                </a:solidFill>
                <a:latin typeface="Times New Roman"/>
              </a:rPr>
              <a:t>Relationships:   Project ──[1:*]──► Task      Task ──[*:0..1]──► Task (dependency)      Task ──[*:0..1]──► Resource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SEQUENCE DIAGRAM — User Login</a:t>
            </a:r>
          </a:p>
        </p:txBody>
      </p:sp>
      <p:sp>
        <p:nvSpPr>
          <p:cNvPr id="3" name="TextBox 2"/>
          <p:cNvSpPr txBox="1"/>
          <p:nvPr/>
        </p:nvSpPr>
        <p:spPr>
          <a:xfrm>
            <a:off x="914400" y="2011680"/>
            <a:ext cx="15544800" cy="6400800"/>
          </a:xfrm>
          <a:prstGeom prst="rect">
            <a:avLst/>
          </a:prstGeom>
          <a:noFill/>
        </p:spPr>
        <p:txBody>
          <a:bodyPr wrap="square">
            <a:spAutoFit/>
          </a:bodyPr>
          <a:lstStyle/>
          <a:p>
            <a:pPr>
              <a:spcBef>
                <a:spcPts val="400"/>
              </a:spcBef>
              <a:spcAft>
                <a:spcPts val="600"/>
              </a:spcAft>
            </a:pPr>
            <a:r>
              <a:rPr sz="2200" b="0">
                <a:solidFill>
                  <a:srgbClr val="251C23"/>
                </a:solidFill>
                <a:latin typeface="Times New Roman"/>
              </a:rPr>
              <a:t>→ 1. User enters email and password on Login page</a:t>
            </a:r>
          </a:p>
          <a:p>
            <a:pPr>
              <a:spcBef>
                <a:spcPts val="400"/>
              </a:spcBef>
              <a:spcAft>
                <a:spcPts val="600"/>
              </a:spcAft>
            </a:pPr>
            <a:r>
              <a:rPr sz="2200" b="0">
                <a:solidFill>
                  <a:srgbClr val="251C23"/>
                </a:solidFill>
                <a:latin typeface="Times New Roman"/>
              </a:rPr>
              <a:t>→ 2. React App calls AuthContext.login(credentials)</a:t>
            </a:r>
          </a:p>
          <a:p>
            <a:pPr>
              <a:spcBef>
                <a:spcPts val="400"/>
              </a:spcBef>
              <a:spcAft>
                <a:spcPts val="600"/>
              </a:spcAft>
            </a:pPr>
            <a:r>
              <a:rPr sz="2200" b="0">
                <a:solidFill>
                  <a:srgbClr val="251C23"/>
                </a:solidFill>
                <a:latin typeface="Times New Roman"/>
              </a:rPr>
              <a:t>→ 3. Axios sends POST /api/auth/login with JSON body</a:t>
            </a:r>
          </a:p>
          <a:p>
            <a:pPr>
              <a:spcBef>
                <a:spcPts val="400"/>
              </a:spcBef>
              <a:spcAft>
                <a:spcPts val="600"/>
              </a:spcAft>
            </a:pPr>
            <a:r>
              <a:rPr sz="2200" b="0">
                <a:solidFill>
                  <a:srgbClr val="251C23"/>
                </a:solidFill>
                <a:latin typeface="Times New Roman"/>
              </a:rPr>
              <a:t>→ 4. Express routes to authController.login()</a:t>
            </a:r>
          </a:p>
          <a:p>
            <a:pPr>
              <a:spcBef>
                <a:spcPts val="400"/>
              </a:spcBef>
              <a:spcAft>
                <a:spcPts val="600"/>
              </a:spcAft>
            </a:pPr>
            <a:r>
              <a:rPr sz="2200" b="0">
                <a:solidFill>
                  <a:srgbClr val="251C23"/>
                </a:solidFill>
                <a:latin typeface="Times New Roman"/>
              </a:rPr>
              <a:t>→ 5. Controller queries MongoDB: User.findOne({email}).select('+password')</a:t>
            </a:r>
          </a:p>
          <a:p>
            <a:pPr>
              <a:spcBef>
                <a:spcPts val="400"/>
              </a:spcBef>
              <a:spcAft>
                <a:spcPts val="600"/>
              </a:spcAft>
            </a:pPr>
            <a:r>
              <a:rPr sz="2200" b="0">
                <a:solidFill>
                  <a:srgbClr val="251C23"/>
                </a:solidFill>
                <a:latin typeface="Times New Roman"/>
              </a:rPr>
              <a:t>→ 6. Database returns user document</a:t>
            </a:r>
          </a:p>
          <a:p>
            <a:pPr>
              <a:spcBef>
                <a:spcPts val="400"/>
              </a:spcBef>
              <a:spcAft>
                <a:spcPts val="600"/>
              </a:spcAft>
            </a:pPr>
            <a:r>
              <a:rPr sz="2200" b="0">
                <a:solidFill>
                  <a:srgbClr val="251C23"/>
                </a:solidFill>
                <a:latin typeface="Times New Roman"/>
              </a:rPr>
              <a:t>→ 7. Controller calls matchPassword() → getSignedJwtToken()</a:t>
            </a:r>
          </a:p>
          <a:p>
            <a:pPr>
              <a:spcBef>
                <a:spcPts val="400"/>
              </a:spcBef>
              <a:spcAft>
                <a:spcPts val="600"/>
              </a:spcAft>
            </a:pPr>
            <a:r>
              <a:rPr sz="2200" b="0">
                <a:solidFill>
                  <a:srgbClr val="251C23"/>
                </a:solidFill>
                <a:latin typeface="Times New Roman"/>
              </a:rPr>
              <a:t>→ 8. Server responds: {success: true, token: JWT, user: {...}}</a:t>
            </a:r>
          </a:p>
          <a:p>
            <a:pPr>
              <a:spcBef>
                <a:spcPts val="400"/>
              </a:spcBef>
              <a:spcAft>
                <a:spcPts val="600"/>
              </a:spcAft>
            </a:pPr>
            <a:r>
              <a:rPr sz="2200" b="0">
                <a:solidFill>
                  <a:srgbClr val="251C23"/>
                </a:solidFill>
                <a:latin typeface="Times New Roman"/>
              </a:rPr>
              <a:t>→ 9. Axios returns 200 OK with response data</a:t>
            </a:r>
          </a:p>
          <a:p>
            <a:pPr>
              <a:spcBef>
                <a:spcPts val="400"/>
              </a:spcBef>
              <a:spcAft>
                <a:spcPts val="600"/>
              </a:spcAft>
            </a:pPr>
            <a:r>
              <a:rPr sz="2200" b="0">
                <a:solidFill>
                  <a:srgbClr val="251C23"/>
                </a:solidFill>
                <a:latin typeface="Times New Roman"/>
              </a:rPr>
              <a:t>→ 10. AuthContext stores token in localStorage, sets user state</a:t>
            </a:r>
          </a:p>
          <a:p>
            <a:pPr>
              <a:spcBef>
                <a:spcPts val="400"/>
              </a:spcBef>
              <a:spcAft>
                <a:spcPts val="600"/>
              </a:spcAft>
            </a:pPr>
            <a:r>
              <a:rPr sz="2200" b="0">
                <a:solidFill>
                  <a:srgbClr val="251C23"/>
                </a:solidFill>
                <a:latin typeface="Times New Roman"/>
              </a:rPr>
              <a:t>→ 11. React navigates to Dashboard — user is authenticated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SEQUENCE DIAGRAM — OTP Password Reset</a:t>
            </a:r>
          </a:p>
        </p:txBody>
      </p:sp>
      <p:sp>
        <p:nvSpPr>
          <p:cNvPr id="3" name="TextBox 2"/>
          <p:cNvSpPr txBox="1"/>
          <p:nvPr/>
        </p:nvSpPr>
        <p:spPr>
          <a:xfrm>
            <a:off x="914400" y="2011680"/>
            <a:ext cx="15544800" cy="6400800"/>
          </a:xfrm>
          <a:prstGeom prst="rect">
            <a:avLst/>
          </a:prstGeom>
          <a:noFill/>
        </p:spPr>
        <p:txBody>
          <a:bodyPr wrap="square">
            <a:spAutoFit/>
          </a:bodyPr>
          <a:lstStyle/>
          <a:p>
            <a:pPr>
              <a:spcBef>
                <a:spcPts val="400"/>
              </a:spcBef>
              <a:spcAft>
                <a:spcPts val="600"/>
              </a:spcAft>
            </a:pPr>
            <a:r>
              <a:rPr sz="2200" b="0">
                <a:solidFill>
                  <a:srgbClr val="251C23"/>
                </a:solidFill>
                <a:latin typeface="Times New Roman"/>
              </a:rPr>
              <a:t>→ 1. User clicks 'Forgot Password' and enters email</a:t>
            </a:r>
          </a:p>
          <a:p>
            <a:pPr>
              <a:spcBef>
                <a:spcPts val="400"/>
              </a:spcBef>
              <a:spcAft>
                <a:spcPts val="600"/>
              </a:spcAft>
            </a:pPr>
            <a:r>
              <a:rPr sz="2200" b="0">
                <a:solidFill>
                  <a:srgbClr val="251C23"/>
                </a:solidFill>
                <a:latin typeface="Times New Roman"/>
              </a:rPr>
              <a:t>→ 2. POST /api/auth/forgotpassword — generates 6-digit OTP</a:t>
            </a:r>
          </a:p>
          <a:p>
            <a:pPr>
              <a:spcBef>
                <a:spcPts val="400"/>
              </a:spcBef>
              <a:spcAft>
                <a:spcPts val="600"/>
              </a:spcAft>
            </a:pPr>
            <a:r>
              <a:rPr sz="2200" b="0">
                <a:solidFill>
                  <a:srgbClr val="251C23"/>
                </a:solidFill>
                <a:latin typeface="Times New Roman"/>
              </a:rPr>
              <a:t>→ 3. OTP is hashed (SHA-256) and stored in User document with 10-min expiry</a:t>
            </a:r>
          </a:p>
          <a:p>
            <a:pPr>
              <a:spcBef>
                <a:spcPts val="400"/>
              </a:spcBef>
              <a:spcAft>
                <a:spcPts val="600"/>
              </a:spcAft>
            </a:pPr>
            <a:r>
              <a:rPr sz="2200" b="0">
                <a:solidFill>
                  <a:srgbClr val="251C23"/>
                </a:solidFill>
                <a:latin typeface="Times New Roman"/>
              </a:rPr>
              <a:t>→ 4. Plain-text OTP is sent via Nodemailer (Ethereal test or production SMTP)</a:t>
            </a:r>
          </a:p>
          <a:p>
            <a:pPr>
              <a:spcBef>
                <a:spcPts val="400"/>
              </a:spcBef>
              <a:spcAft>
                <a:spcPts val="600"/>
              </a:spcAft>
            </a:pPr>
            <a:r>
              <a:rPr sz="2200" b="0">
                <a:solidFill>
                  <a:srgbClr val="251C23"/>
                </a:solidFill>
                <a:latin typeface="Times New Roman"/>
              </a:rPr>
              <a:t>→ 5. Server responds with success message (+ preview URL in dev mode)</a:t>
            </a:r>
          </a:p>
          <a:p>
            <a:pPr>
              <a:spcBef>
                <a:spcPts val="400"/>
              </a:spcBef>
              <a:spcAft>
                <a:spcPts val="600"/>
              </a:spcAft>
            </a:pPr>
            <a:r>
              <a:rPr sz="2200" b="0">
                <a:solidFill>
                  <a:srgbClr val="251C23"/>
                </a:solidFill>
                <a:latin typeface="Times New Roman"/>
              </a:rPr>
              <a:t>→ 6. User enters 6-digit OTP on the verification step</a:t>
            </a:r>
          </a:p>
          <a:p>
            <a:pPr>
              <a:spcBef>
                <a:spcPts val="400"/>
              </a:spcBef>
              <a:spcAft>
                <a:spcPts val="600"/>
              </a:spcAft>
            </a:pPr>
            <a:r>
              <a:rPr sz="2200" b="0">
                <a:solidFill>
                  <a:srgbClr val="251C23"/>
                </a:solidFill>
                <a:latin typeface="Times New Roman"/>
              </a:rPr>
              <a:t>→ 7. POST /api/auth/verifyotp — compares hashed OTP, checks expiry</a:t>
            </a:r>
          </a:p>
          <a:p>
            <a:pPr>
              <a:spcBef>
                <a:spcPts val="400"/>
              </a:spcBef>
              <a:spcAft>
                <a:spcPts val="600"/>
              </a:spcAft>
            </a:pPr>
            <a:r>
              <a:rPr sz="2200" b="0">
                <a:solidFill>
                  <a:srgbClr val="251C23"/>
                </a:solidFill>
                <a:latin typeface="Times New Roman"/>
              </a:rPr>
              <a:t>→ 8. If valid: generates a short-lived reset token, clears OTP fields</a:t>
            </a:r>
          </a:p>
          <a:p>
            <a:pPr>
              <a:spcBef>
                <a:spcPts val="400"/>
              </a:spcBef>
              <a:spcAft>
                <a:spcPts val="600"/>
              </a:spcAft>
            </a:pPr>
            <a:r>
              <a:rPr sz="2200" b="0">
                <a:solidFill>
                  <a:srgbClr val="251C23"/>
                </a:solidFill>
                <a:latin typeface="Times New Roman"/>
              </a:rPr>
              <a:t>→ 9. User enters new password with strength validation</a:t>
            </a:r>
          </a:p>
          <a:p>
            <a:pPr>
              <a:spcBef>
                <a:spcPts val="400"/>
              </a:spcBef>
              <a:spcAft>
                <a:spcPts val="600"/>
              </a:spcAft>
            </a:pPr>
            <a:r>
              <a:rPr sz="2200" b="0">
                <a:solidFill>
                  <a:srgbClr val="251C23"/>
                </a:solidFill>
                <a:latin typeface="Times New Roman"/>
              </a:rPr>
              <a:t>→ 10. PUT /api/auth/resetpassword/:token — sets new password, clears token</a:t>
            </a:r>
          </a:p>
          <a:p>
            <a:pPr>
              <a:spcBef>
                <a:spcPts val="400"/>
              </a:spcBef>
              <a:spcAft>
                <a:spcPts val="600"/>
              </a:spcAft>
            </a:pPr>
            <a:r>
              <a:rPr sz="2200" b="0">
                <a:solidFill>
                  <a:srgbClr val="251C23"/>
                </a:solidFill>
                <a:latin typeface="Times New Roman"/>
              </a:rPr>
              <a:t>→ 11. Server auto-logs in user and returns JWT — redirect to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ACTIVITY DIAGRAM — Project Lifecycle</a:t>
            </a:r>
          </a:p>
        </p:txBody>
      </p:sp>
      <p:sp>
        <p:nvSpPr>
          <p:cNvPr id="3" name="Rounded Rectangle 2"/>
          <p:cNvSpPr/>
          <p:nvPr/>
        </p:nvSpPr>
        <p:spPr>
          <a:xfrm>
            <a:off x="1371600" y="1645920"/>
            <a:ext cx="5943600" cy="54864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719072"/>
            <a:ext cx="5577840" cy="411480"/>
          </a:xfrm>
          <a:prstGeom prst="rect">
            <a:avLst/>
          </a:prstGeom>
          <a:noFill/>
        </p:spPr>
        <p:txBody>
          <a:bodyPr wrap="square">
            <a:spAutoFit/>
          </a:bodyPr>
          <a:lstStyle/>
          <a:p>
            <a:pPr algn="l"/>
            <a:r>
              <a:rPr sz="1700" b="1">
                <a:solidFill>
                  <a:srgbClr val="FFFFFF"/>
                </a:solidFill>
                <a:latin typeface="Times New Roman"/>
              </a:rPr>
              <a:t>● Start</a:t>
            </a:r>
          </a:p>
        </p:txBody>
      </p:sp>
      <p:sp>
        <p:nvSpPr>
          <p:cNvPr id="5" name="Rounded Rectangle 4"/>
          <p:cNvSpPr/>
          <p:nvPr/>
        </p:nvSpPr>
        <p:spPr>
          <a:xfrm>
            <a:off x="1371600" y="2468880"/>
            <a:ext cx="5943600" cy="548640"/>
          </a:xfrm>
          <a:prstGeom prst="round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542032"/>
            <a:ext cx="5577840" cy="411480"/>
          </a:xfrm>
          <a:prstGeom prst="rect">
            <a:avLst/>
          </a:prstGeom>
          <a:noFill/>
        </p:spPr>
        <p:txBody>
          <a:bodyPr wrap="square">
            <a:spAutoFit/>
          </a:bodyPr>
          <a:lstStyle/>
          <a:p>
            <a:pPr algn="l"/>
            <a:r>
              <a:rPr sz="1700" b="1">
                <a:solidFill>
                  <a:srgbClr val="FFFFFF"/>
                </a:solidFill>
                <a:latin typeface="Times New Roman"/>
              </a:rPr>
              <a:t>Manager Creates Project</a:t>
            </a:r>
          </a:p>
        </p:txBody>
      </p:sp>
      <p:sp>
        <p:nvSpPr>
          <p:cNvPr id="7" name="Rounded Rectangle 6"/>
          <p:cNvSpPr/>
          <p:nvPr/>
        </p:nvSpPr>
        <p:spPr>
          <a:xfrm>
            <a:off x="1371600" y="3291840"/>
            <a:ext cx="59436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3364992"/>
            <a:ext cx="5577840" cy="411480"/>
          </a:xfrm>
          <a:prstGeom prst="rect">
            <a:avLst/>
          </a:prstGeom>
          <a:noFill/>
        </p:spPr>
        <p:txBody>
          <a:bodyPr wrap="square">
            <a:spAutoFit/>
          </a:bodyPr>
          <a:lstStyle/>
          <a:p>
            <a:pPr algn="l"/>
            <a:r>
              <a:rPr sz="1700" b="1">
                <a:solidFill>
                  <a:srgbClr val="FFFFFF"/>
                </a:solidFill>
                <a:latin typeface="Times New Roman"/>
              </a:rPr>
              <a:t>◇ Valid Data?</a:t>
            </a:r>
          </a:p>
        </p:txBody>
      </p:sp>
      <p:sp>
        <p:nvSpPr>
          <p:cNvPr id="9" name="Rounded Rectangle 8"/>
          <p:cNvSpPr/>
          <p:nvPr/>
        </p:nvSpPr>
        <p:spPr>
          <a:xfrm>
            <a:off x="1371600" y="4114800"/>
            <a:ext cx="5943600"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4187952"/>
            <a:ext cx="5577840" cy="411480"/>
          </a:xfrm>
          <a:prstGeom prst="rect">
            <a:avLst/>
          </a:prstGeom>
          <a:noFill/>
        </p:spPr>
        <p:txBody>
          <a:bodyPr wrap="square">
            <a:spAutoFit/>
          </a:bodyPr>
          <a:lstStyle/>
          <a:p>
            <a:pPr algn="l"/>
            <a:r>
              <a:rPr sz="1700" b="1">
                <a:solidFill>
                  <a:srgbClr val="FFFFFF"/>
                </a:solidFill>
                <a:latin typeface="Times New Roman"/>
              </a:rPr>
              <a:t>Save to DB (Status: Not Started)</a:t>
            </a:r>
          </a:p>
        </p:txBody>
      </p:sp>
      <p:sp>
        <p:nvSpPr>
          <p:cNvPr id="11" name="Rounded Rectangle 10"/>
          <p:cNvSpPr/>
          <p:nvPr/>
        </p:nvSpPr>
        <p:spPr>
          <a:xfrm>
            <a:off x="1371600" y="4937760"/>
            <a:ext cx="5943600" cy="548640"/>
          </a:xfrm>
          <a:prstGeom prst="round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5010912"/>
            <a:ext cx="5577840" cy="411480"/>
          </a:xfrm>
          <a:prstGeom prst="rect">
            <a:avLst/>
          </a:prstGeom>
          <a:noFill/>
        </p:spPr>
        <p:txBody>
          <a:bodyPr wrap="square">
            <a:spAutoFit/>
          </a:bodyPr>
          <a:lstStyle/>
          <a:p>
            <a:pPr algn="l"/>
            <a:r>
              <a:rPr sz="1700" b="1">
                <a:solidFill>
                  <a:srgbClr val="FFFFFF"/>
                </a:solidFill>
                <a:latin typeface="Times New Roman"/>
              </a:rPr>
              <a:t>Add Tasks to Project</a:t>
            </a:r>
          </a:p>
        </p:txBody>
      </p:sp>
      <p:sp>
        <p:nvSpPr>
          <p:cNvPr id="13" name="Rounded Rectangle 12"/>
          <p:cNvSpPr/>
          <p:nvPr/>
        </p:nvSpPr>
        <p:spPr>
          <a:xfrm>
            <a:off x="1371600" y="5760720"/>
            <a:ext cx="5943600" cy="548640"/>
          </a:xfrm>
          <a:prstGeom prst="roundRect">
            <a:avLst/>
          </a:prstGeom>
          <a:solidFill>
            <a:srgbClr val="3C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5833872"/>
            <a:ext cx="5577840" cy="411480"/>
          </a:xfrm>
          <a:prstGeom prst="rect">
            <a:avLst/>
          </a:prstGeom>
          <a:noFill/>
        </p:spPr>
        <p:txBody>
          <a:bodyPr wrap="square">
            <a:spAutoFit/>
          </a:bodyPr>
          <a:lstStyle/>
          <a:p>
            <a:pPr algn="l"/>
            <a:r>
              <a:rPr sz="1700" b="1">
                <a:solidFill>
                  <a:srgbClr val="FFFFFF"/>
                </a:solidFill>
                <a:latin typeface="Times New Roman"/>
              </a:rPr>
              <a:t>Assign Resources to Tasks</a:t>
            </a:r>
          </a:p>
        </p:txBody>
      </p:sp>
      <p:sp>
        <p:nvSpPr>
          <p:cNvPr id="15" name="Rounded Rectangle 14"/>
          <p:cNvSpPr/>
          <p:nvPr/>
        </p:nvSpPr>
        <p:spPr>
          <a:xfrm>
            <a:off x="1371600" y="6583680"/>
            <a:ext cx="5943600" cy="548640"/>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6656832"/>
            <a:ext cx="5577840" cy="411480"/>
          </a:xfrm>
          <a:prstGeom prst="rect">
            <a:avLst/>
          </a:prstGeom>
          <a:noFill/>
        </p:spPr>
        <p:txBody>
          <a:bodyPr wrap="square">
            <a:spAutoFit/>
          </a:bodyPr>
          <a:lstStyle/>
          <a:p>
            <a:pPr algn="l"/>
            <a:r>
              <a:rPr sz="1700" b="1">
                <a:solidFill>
                  <a:srgbClr val="FFFFFF"/>
                </a:solidFill>
                <a:latin typeface="Times New Roman"/>
              </a:rPr>
              <a:t>Project Status → In Progress</a:t>
            </a:r>
          </a:p>
        </p:txBody>
      </p:sp>
      <p:sp>
        <p:nvSpPr>
          <p:cNvPr id="17" name="Rounded Rectangle 16"/>
          <p:cNvSpPr/>
          <p:nvPr/>
        </p:nvSpPr>
        <p:spPr>
          <a:xfrm>
            <a:off x="9144000" y="1645920"/>
            <a:ext cx="64008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1719072"/>
            <a:ext cx="6035040" cy="411480"/>
          </a:xfrm>
          <a:prstGeom prst="rect">
            <a:avLst/>
          </a:prstGeom>
          <a:noFill/>
        </p:spPr>
        <p:txBody>
          <a:bodyPr wrap="square">
            <a:spAutoFit/>
          </a:bodyPr>
          <a:lstStyle/>
          <a:p>
            <a:pPr algn="l"/>
            <a:r>
              <a:rPr sz="1700" b="1">
                <a:solidFill>
                  <a:srgbClr val="FFFFFF"/>
                </a:solidFill>
                <a:latin typeface="Times New Roman"/>
              </a:rPr>
              <a:t>◇ All Tasks Completed?</a:t>
            </a:r>
          </a:p>
        </p:txBody>
      </p:sp>
      <p:sp>
        <p:nvSpPr>
          <p:cNvPr id="19" name="Rounded Rectangle 18"/>
          <p:cNvSpPr/>
          <p:nvPr/>
        </p:nvSpPr>
        <p:spPr>
          <a:xfrm>
            <a:off x="9144000" y="2468880"/>
            <a:ext cx="64008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542032"/>
            <a:ext cx="6035040" cy="411480"/>
          </a:xfrm>
          <a:prstGeom prst="rect">
            <a:avLst/>
          </a:prstGeom>
          <a:noFill/>
        </p:spPr>
        <p:txBody>
          <a:bodyPr wrap="square">
            <a:spAutoFit/>
          </a:bodyPr>
          <a:lstStyle/>
          <a:p>
            <a:pPr algn="l"/>
            <a:r>
              <a:rPr sz="1700" b="1">
                <a:solidFill>
                  <a:srgbClr val="FFFFFF"/>
                </a:solidFill>
                <a:latin typeface="Times New Roman"/>
              </a:rPr>
              <a:t>◇ Past End Date?</a:t>
            </a:r>
          </a:p>
        </p:txBody>
      </p:sp>
      <p:sp>
        <p:nvSpPr>
          <p:cNvPr id="21" name="Rounded Rectangle 20"/>
          <p:cNvSpPr/>
          <p:nvPr/>
        </p:nvSpPr>
        <p:spPr>
          <a:xfrm>
            <a:off x="9144000" y="3291840"/>
            <a:ext cx="6400800"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3364992"/>
            <a:ext cx="6035040" cy="411480"/>
          </a:xfrm>
          <a:prstGeom prst="rect">
            <a:avLst/>
          </a:prstGeom>
          <a:noFill/>
        </p:spPr>
        <p:txBody>
          <a:bodyPr wrap="square">
            <a:spAutoFit/>
          </a:bodyPr>
          <a:lstStyle/>
          <a:p>
            <a:pPr algn="l"/>
            <a:r>
              <a:rPr sz="1700" b="1">
                <a:solidFill>
                  <a:srgbClr val="FFFFFF"/>
                </a:solidFill>
                <a:latin typeface="Times New Roman"/>
              </a:rPr>
              <a:t>Status → Completed (100%)</a:t>
            </a:r>
          </a:p>
        </p:txBody>
      </p:sp>
      <p:sp>
        <p:nvSpPr>
          <p:cNvPr id="23" name="Rounded Rectangle 22"/>
          <p:cNvSpPr/>
          <p:nvPr/>
        </p:nvSpPr>
        <p:spPr>
          <a:xfrm>
            <a:off x="9144000" y="4114800"/>
            <a:ext cx="6400800" cy="54864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4187952"/>
            <a:ext cx="6035040" cy="411480"/>
          </a:xfrm>
          <a:prstGeom prst="rect">
            <a:avLst/>
          </a:prstGeom>
          <a:noFill/>
        </p:spPr>
        <p:txBody>
          <a:bodyPr wrap="square">
            <a:spAutoFit/>
          </a:bodyPr>
          <a:lstStyle/>
          <a:p>
            <a:pPr algn="l"/>
            <a:r>
              <a:rPr sz="1700" b="1">
                <a:solidFill>
                  <a:srgbClr val="FFFFFF"/>
                </a:solidFill>
                <a:latin typeface="Times New Roman"/>
              </a:rPr>
              <a:t>Status → Delayed → Reschedule</a:t>
            </a:r>
          </a:p>
        </p:txBody>
      </p:sp>
      <p:sp>
        <p:nvSpPr>
          <p:cNvPr id="25" name="Rounded Rectangle 24"/>
          <p:cNvSpPr/>
          <p:nvPr/>
        </p:nvSpPr>
        <p:spPr>
          <a:xfrm>
            <a:off x="9144000" y="4937760"/>
            <a:ext cx="6400800" cy="54864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5010912"/>
            <a:ext cx="6035040" cy="411480"/>
          </a:xfrm>
          <a:prstGeom prst="rect">
            <a:avLst/>
          </a:prstGeom>
          <a:noFill/>
        </p:spPr>
        <p:txBody>
          <a:bodyPr wrap="square">
            <a:spAutoFit/>
          </a:bodyPr>
          <a:lstStyle/>
          <a:p>
            <a:pPr algn="l"/>
            <a:r>
              <a:rPr sz="1700" b="1">
                <a:solidFill>
                  <a:srgbClr val="FFFFFF"/>
                </a:solidFill>
                <a:latin typeface="Times New Roman"/>
              </a:rPr>
              <a:t>● End</a:t>
            </a:r>
          </a:p>
        </p:txBody>
      </p:sp>
      <p:sp>
        <p:nvSpPr>
          <p:cNvPr id="27" name="TextBox 26"/>
          <p:cNvSpPr txBox="1"/>
          <p:nvPr/>
        </p:nvSpPr>
        <p:spPr>
          <a:xfrm>
            <a:off x="914400" y="8046720"/>
            <a:ext cx="14630400" cy="548640"/>
          </a:xfrm>
          <a:prstGeom prst="rect">
            <a:avLst/>
          </a:prstGeom>
          <a:noFill/>
        </p:spPr>
        <p:txBody>
          <a:bodyPr wrap="square">
            <a:spAutoFit/>
          </a:bodyPr>
          <a:lstStyle/>
          <a:p>
            <a:pPr algn="ctr"/>
            <a:r>
              <a:rPr sz="1600" b="0">
                <a:solidFill>
                  <a:srgbClr val="666666"/>
                </a:solidFill>
                <a:latin typeface="Times New Roman"/>
              </a:rPr>
              <a:t>Flow: Create → Add Tasks → Assign Resources → Track → Complete or Reschedule if Delayed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ENTITY-RELATIONSHIP (ER) DIAGRAM</a:t>
            </a:r>
          </a:p>
        </p:txBody>
      </p:sp>
      <p:sp>
        <p:nvSpPr>
          <p:cNvPr id="3" name="Rectangle 2"/>
          <p:cNvSpPr/>
          <p:nvPr/>
        </p:nvSpPr>
        <p:spPr>
          <a:xfrm>
            <a:off x="274320" y="1645920"/>
            <a:ext cx="384048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64208"/>
            <a:ext cx="3840480" cy="320040"/>
          </a:xfrm>
          <a:prstGeom prst="rect">
            <a:avLst/>
          </a:prstGeom>
          <a:noFill/>
        </p:spPr>
        <p:txBody>
          <a:bodyPr wrap="square">
            <a:spAutoFit/>
          </a:bodyPr>
          <a:lstStyle/>
          <a:p>
            <a:pPr algn="ctr"/>
            <a:r>
              <a:rPr sz="1600" b="1">
                <a:solidFill>
                  <a:srgbClr val="FFFFFF"/>
                </a:solidFill>
                <a:latin typeface="Times New Roman"/>
              </a:rPr>
              <a:t>USER</a:t>
            </a:r>
          </a:p>
        </p:txBody>
      </p:sp>
      <p:sp>
        <p:nvSpPr>
          <p:cNvPr id="6" name="TextBox 5"/>
          <p:cNvSpPr txBox="1"/>
          <p:nvPr/>
        </p:nvSpPr>
        <p:spPr>
          <a:xfrm>
            <a:off x="365760" y="2084832"/>
            <a:ext cx="3657600" cy="237744"/>
          </a:xfrm>
          <a:prstGeom prst="rect">
            <a:avLst/>
          </a:prstGeom>
          <a:noFill/>
        </p:spPr>
        <p:txBody>
          <a:bodyPr wrap="square">
            <a:spAutoFit/>
          </a:bodyPr>
          <a:lstStyle/>
          <a:p>
            <a:pPr algn="l"/>
            <a:r>
              <a:rPr sz="1200" b="0">
                <a:solidFill>
                  <a:srgbClr val="3C6CA8"/>
                </a:solidFill>
                <a:latin typeface="Consolas"/>
              </a:rPr>
              <a:t>PK _id: ObjectId</a:t>
            </a:r>
          </a:p>
        </p:txBody>
      </p:sp>
      <p:sp>
        <p:nvSpPr>
          <p:cNvPr id="7" name="TextBox 6"/>
          <p:cNvSpPr txBox="1"/>
          <p:nvPr/>
        </p:nvSpPr>
        <p:spPr>
          <a:xfrm>
            <a:off x="365760" y="2340864"/>
            <a:ext cx="3657600" cy="237744"/>
          </a:xfrm>
          <a:prstGeom prst="rect">
            <a:avLst/>
          </a:prstGeom>
          <a:noFill/>
        </p:spPr>
        <p:txBody>
          <a:bodyPr wrap="square">
            <a:spAutoFit/>
          </a:bodyPr>
          <a:lstStyle/>
          <a:p>
            <a:pPr algn="l"/>
            <a:r>
              <a:rPr sz="1200" b="0">
                <a:solidFill>
                  <a:srgbClr val="333333"/>
                </a:solidFill>
                <a:latin typeface="Consolas"/>
              </a:rPr>
              <a:t>name: String</a:t>
            </a:r>
          </a:p>
        </p:txBody>
      </p:sp>
      <p:sp>
        <p:nvSpPr>
          <p:cNvPr id="8" name="TextBox 7"/>
          <p:cNvSpPr txBox="1"/>
          <p:nvPr/>
        </p:nvSpPr>
        <p:spPr>
          <a:xfrm>
            <a:off x="365760" y="2596896"/>
            <a:ext cx="3657600" cy="237744"/>
          </a:xfrm>
          <a:prstGeom prst="rect">
            <a:avLst/>
          </a:prstGeom>
          <a:noFill/>
        </p:spPr>
        <p:txBody>
          <a:bodyPr wrap="square">
            <a:spAutoFit/>
          </a:bodyPr>
          <a:lstStyle/>
          <a:p>
            <a:pPr algn="l"/>
            <a:r>
              <a:rPr sz="1200" b="0">
                <a:solidFill>
                  <a:srgbClr val="333333"/>
                </a:solidFill>
                <a:latin typeface="Consolas"/>
              </a:rPr>
              <a:t>email: String (unique)</a:t>
            </a:r>
          </a:p>
        </p:txBody>
      </p:sp>
      <p:sp>
        <p:nvSpPr>
          <p:cNvPr id="9" name="TextBox 8"/>
          <p:cNvSpPr txBox="1"/>
          <p:nvPr/>
        </p:nvSpPr>
        <p:spPr>
          <a:xfrm>
            <a:off x="365760" y="2852928"/>
            <a:ext cx="3657600" cy="237744"/>
          </a:xfrm>
          <a:prstGeom prst="rect">
            <a:avLst/>
          </a:prstGeom>
          <a:noFill/>
        </p:spPr>
        <p:txBody>
          <a:bodyPr wrap="square">
            <a:spAutoFit/>
          </a:bodyPr>
          <a:lstStyle/>
          <a:p>
            <a:pPr algn="l"/>
            <a:r>
              <a:rPr sz="1200" b="0">
                <a:solidFill>
                  <a:srgbClr val="333333"/>
                </a:solidFill>
                <a:latin typeface="Consolas"/>
              </a:rPr>
              <a:t>password: String</a:t>
            </a:r>
          </a:p>
        </p:txBody>
      </p:sp>
      <p:sp>
        <p:nvSpPr>
          <p:cNvPr id="10" name="TextBox 9"/>
          <p:cNvSpPr txBox="1"/>
          <p:nvPr/>
        </p:nvSpPr>
        <p:spPr>
          <a:xfrm>
            <a:off x="365760" y="3108960"/>
            <a:ext cx="3657600" cy="237744"/>
          </a:xfrm>
          <a:prstGeom prst="rect">
            <a:avLst/>
          </a:prstGeom>
          <a:noFill/>
        </p:spPr>
        <p:txBody>
          <a:bodyPr wrap="square">
            <a:spAutoFit/>
          </a:bodyPr>
          <a:lstStyle/>
          <a:p>
            <a:pPr algn="l"/>
            <a:r>
              <a:rPr sz="1200" b="0">
                <a:solidFill>
                  <a:srgbClr val="333333"/>
                </a:solidFill>
                <a:latin typeface="Consolas"/>
              </a:rPr>
              <a:t>role: user | admin</a:t>
            </a:r>
          </a:p>
        </p:txBody>
      </p:sp>
      <p:sp>
        <p:nvSpPr>
          <p:cNvPr id="11" name="TextBox 10"/>
          <p:cNvSpPr txBox="1"/>
          <p:nvPr/>
        </p:nvSpPr>
        <p:spPr>
          <a:xfrm>
            <a:off x="365760" y="3364992"/>
            <a:ext cx="3657600" cy="237744"/>
          </a:xfrm>
          <a:prstGeom prst="rect">
            <a:avLst/>
          </a:prstGeom>
          <a:noFill/>
        </p:spPr>
        <p:txBody>
          <a:bodyPr wrap="square">
            <a:spAutoFit/>
          </a:bodyPr>
          <a:lstStyle/>
          <a:p>
            <a:pPr algn="l"/>
            <a:r>
              <a:rPr sz="1200" b="0">
                <a:solidFill>
                  <a:srgbClr val="333333"/>
                </a:solidFill>
                <a:latin typeface="Consolas"/>
              </a:rPr>
              <a:t>resetPasswordOTP: String</a:t>
            </a:r>
          </a:p>
        </p:txBody>
      </p:sp>
      <p:sp>
        <p:nvSpPr>
          <p:cNvPr id="12" name="TextBox 11"/>
          <p:cNvSpPr txBox="1"/>
          <p:nvPr/>
        </p:nvSpPr>
        <p:spPr>
          <a:xfrm>
            <a:off x="365760" y="3621024"/>
            <a:ext cx="3657600" cy="237744"/>
          </a:xfrm>
          <a:prstGeom prst="rect">
            <a:avLst/>
          </a:prstGeom>
          <a:noFill/>
        </p:spPr>
        <p:txBody>
          <a:bodyPr wrap="square">
            <a:spAutoFit/>
          </a:bodyPr>
          <a:lstStyle/>
          <a:p>
            <a:pPr algn="l"/>
            <a:r>
              <a:rPr sz="1200" b="0">
                <a:solidFill>
                  <a:srgbClr val="333333"/>
                </a:solidFill>
                <a:latin typeface="Consolas"/>
              </a:rPr>
              <a:t>resetPasswordToken: String</a:t>
            </a:r>
          </a:p>
        </p:txBody>
      </p:sp>
      <p:sp>
        <p:nvSpPr>
          <p:cNvPr id="13" name="Rectangle 12"/>
          <p:cNvSpPr/>
          <p:nvPr/>
        </p:nvSpPr>
        <p:spPr>
          <a:xfrm>
            <a:off x="4389120" y="1645920"/>
            <a:ext cx="38404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664208"/>
            <a:ext cx="3840480" cy="320040"/>
          </a:xfrm>
          <a:prstGeom prst="rect">
            <a:avLst/>
          </a:prstGeom>
          <a:noFill/>
        </p:spPr>
        <p:txBody>
          <a:bodyPr wrap="square">
            <a:spAutoFit/>
          </a:bodyPr>
          <a:lstStyle/>
          <a:p>
            <a:pPr algn="ctr"/>
            <a:r>
              <a:rPr sz="1600" b="1">
                <a:solidFill>
                  <a:srgbClr val="FFFFFF"/>
                </a:solidFill>
                <a:latin typeface="Times New Roman"/>
              </a:rPr>
              <a:t>PROJECT</a:t>
            </a:r>
          </a:p>
        </p:txBody>
      </p:sp>
      <p:sp>
        <p:nvSpPr>
          <p:cNvPr id="16" name="TextBox 15"/>
          <p:cNvSpPr txBox="1"/>
          <p:nvPr/>
        </p:nvSpPr>
        <p:spPr>
          <a:xfrm>
            <a:off x="4480560" y="2084832"/>
            <a:ext cx="3657600" cy="237744"/>
          </a:xfrm>
          <a:prstGeom prst="rect">
            <a:avLst/>
          </a:prstGeom>
          <a:noFill/>
        </p:spPr>
        <p:txBody>
          <a:bodyPr wrap="square">
            <a:spAutoFit/>
          </a:bodyPr>
          <a:lstStyle/>
          <a:p>
            <a:pPr algn="l"/>
            <a:r>
              <a:rPr sz="1200" b="0">
                <a:solidFill>
                  <a:srgbClr val="3C6CA8"/>
                </a:solidFill>
                <a:latin typeface="Consolas"/>
              </a:rPr>
              <a:t>PK _id: ObjectId</a:t>
            </a:r>
          </a:p>
        </p:txBody>
      </p:sp>
      <p:sp>
        <p:nvSpPr>
          <p:cNvPr id="17" name="TextBox 16"/>
          <p:cNvSpPr txBox="1"/>
          <p:nvPr/>
        </p:nvSpPr>
        <p:spPr>
          <a:xfrm>
            <a:off x="4480560" y="2340864"/>
            <a:ext cx="3657600" cy="237744"/>
          </a:xfrm>
          <a:prstGeom prst="rect">
            <a:avLst/>
          </a:prstGeom>
          <a:noFill/>
        </p:spPr>
        <p:txBody>
          <a:bodyPr wrap="square">
            <a:spAutoFit/>
          </a:bodyPr>
          <a:lstStyle/>
          <a:p>
            <a:pPr algn="l"/>
            <a:r>
              <a:rPr sz="1200" b="0">
                <a:solidFill>
                  <a:srgbClr val="333333"/>
                </a:solidFill>
                <a:latin typeface="Consolas"/>
              </a:rPr>
              <a:t>name: String</a:t>
            </a:r>
          </a:p>
        </p:txBody>
      </p:sp>
      <p:sp>
        <p:nvSpPr>
          <p:cNvPr id="18" name="TextBox 17"/>
          <p:cNvSpPr txBox="1"/>
          <p:nvPr/>
        </p:nvSpPr>
        <p:spPr>
          <a:xfrm>
            <a:off x="4480560" y="2596896"/>
            <a:ext cx="3657600" cy="237744"/>
          </a:xfrm>
          <a:prstGeom prst="rect">
            <a:avLst/>
          </a:prstGeom>
          <a:noFill/>
        </p:spPr>
        <p:txBody>
          <a:bodyPr wrap="square">
            <a:spAutoFit/>
          </a:bodyPr>
          <a:lstStyle/>
          <a:p>
            <a:pPr algn="l"/>
            <a:r>
              <a:rPr sz="1200" b="0">
                <a:solidFill>
                  <a:srgbClr val="333333"/>
                </a:solidFill>
                <a:latin typeface="Consolas"/>
              </a:rPr>
              <a:t>description: String</a:t>
            </a:r>
          </a:p>
        </p:txBody>
      </p:sp>
      <p:sp>
        <p:nvSpPr>
          <p:cNvPr id="19" name="TextBox 18"/>
          <p:cNvSpPr txBox="1"/>
          <p:nvPr/>
        </p:nvSpPr>
        <p:spPr>
          <a:xfrm>
            <a:off x="4480560" y="2852928"/>
            <a:ext cx="3657600" cy="237744"/>
          </a:xfrm>
          <a:prstGeom prst="rect">
            <a:avLst/>
          </a:prstGeom>
          <a:noFill/>
        </p:spPr>
        <p:txBody>
          <a:bodyPr wrap="square">
            <a:spAutoFit/>
          </a:bodyPr>
          <a:lstStyle/>
          <a:p>
            <a:pPr algn="l"/>
            <a:r>
              <a:rPr sz="1200" b="0">
                <a:solidFill>
                  <a:srgbClr val="333333"/>
                </a:solidFill>
                <a:latin typeface="Consolas"/>
              </a:rPr>
              <a:t>startDate / endDate: Date</a:t>
            </a:r>
          </a:p>
        </p:txBody>
      </p:sp>
      <p:sp>
        <p:nvSpPr>
          <p:cNvPr id="20" name="TextBox 19"/>
          <p:cNvSpPr txBox="1"/>
          <p:nvPr/>
        </p:nvSpPr>
        <p:spPr>
          <a:xfrm>
            <a:off x="4480560" y="3108960"/>
            <a:ext cx="3657600" cy="237744"/>
          </a:xfrm>
          <a:prstGeom prst="rect">
            <a:avLst/>
          </a:prstGeom>
          <a:noFill/>
        </p:spPr>
        <p:txBody>
          <a:bodyPr wrap="square">
            <a:spAutoFit/>
          </a:bodyPr>
          <a:lstStyle/>
          <a:p>
            <a:pPr algn="l"/>
            <a:r>
              <a:rPr sz="1200" b="0">
                <a:solidFill>
                  <a:srgbClr val="333333"/>
                </a:solidFill>
                <a:latin typeface="Consolas"/>
              </a:rPr>
              <a:t>status: Enum(4)</a:t>
            </a:r>
          </a:p>
        </p:txBody>
      </p:sp>
      <p:sp>
        <p:nvSpPr>
          <p:cNvPr id="21" name="TextBox 20"/>
          <p:cNvSpPr txBox="1"/>
          <p:nvPr/>
        </p:nvSpPr>
        <p:spPr>
          <a:xfrm>
            <a:off x="4480560" y="3364992"/>
            <a:ext cx="3657600" cy="237744"/>
          </a:xfrm>
          <a:prstGeom prst="rect">
            <a:avLst/>
          </a:prstGeom>
          <a:noFill/>
        </p:spPr>
        <p:txBody>
          <a:bodyPr wrap="square">
            <a:spAutoFit/>
          </a:bodyPr>
          <a:lstStyle/>
          <a:p>
            <a:pPr algn="l"/>
            <a:r>
              <a:rPr sz="1200" b="0">
                <a:solidFill>
                  <a:srgbClr val="333333"/>
                </a:solidFill>
                <a:latin typeface="Consolas"/>
              </a:rPr>
              <a:t>completionPercentage: Number</a:t>
            </a:r>
          </a:p>
        </p:txBody>
      </p:sp>
      <p:sp>
        <p:nvSpPr>
          <p:cNvPr id="22" name="TextBox 21"/>
          <p:cNvSpPr txBox="1"/>
          <p:nvPr/>
        </p:nvSpPr>
        <p:spPr>
          <a:xfrm>
            <a:off x="4480560" y="3621024"/>
            <a:ext cx="3657600" cy="237744"/>
          </a:xfrm>
          <a:prstGeom prst="rect">
            <a:avLst/>
          </a:prstGeom>
          <a:noFill/>
        </p:spPr>
        <p:txBody>
          <a:bodyPr wrap="square">
            <a:spAutoFit/>
          </a:bodyPr>
          <a:lstStyle/>
          <a:p>
            <a:pPr algn="l"/>
            <a:r>
              <a:rPr sz="1200" b="0">
                <a:solidFill>
                  <a:srgbClr val="333333"/>
                </a:solidFill>
                <a:latin typeface="Consolas"/>
              </a:rPr>
              <a:t>priority: Enum(4)</a:t>
            </a:r>
          </a:p>
        </p:txBody>
      </p:sp>
      <p:sp>
        <p:nvSpPr>
          <p:cNvPr id="23" name="TextBox 22"/>
          <p:cNvSpPr txBox="1"/>
          <p:nvPr/>
        </p:nvSpPr>
        <p:spPr>
          <a:xfrm>
            <a:off x="4480560" y="3877056"/>
            <a:ext cx="3657600" cy="237744"/>
          </a:xfrm>
          <a:prstGeom prst="rect">
            <a:avLst/>
          </a:prstGeom>
          <a:noFill/>
        </p:spPr>
        <p:txBody>
          <a:bodyPr wrap="square">
            <a:spAutoFit/>
          </a:bodyPr>
          <a:lstStyle/>
          <a:p>
            <a:pPr algn="l"/>
            <a:r>
              <a:rPr sz="1200" b="0">
                <a:solidFill>
                  <a:srgbClr val="333333"/>
                </a:solidFill>
                <a:latin typeface="Consolas"/>
              </a:rPr>
              <a:t>manager: String</a:t>
            </a:r>
          </a:p>
        </p:txBody>
      </p:sp>
      <p:sp>
        <p:nvSpPr>
          <p:cNvPr id="24" name="TextBox 23"/>
          <p:cNvSpPr txBox="1"/>
          <p:nvPr/>
        </p:nvSpPr>
        <p:spPr>
          <a:xfrm>
            <a:off x="4480560" y="4133088"/>
            <a:ext cx="3657600" cy="237744"/>
          </a:xfrm>
          <a:prstGeom prst="rect">
            <a:avLst/>
          </a:prstGeom>
          <a:noFill/>
        </p:spPr>
        <p:txBody>
          <a:bodyPr wrap="square">
            <a:spAutoFit/>
          </a:bodyPr>
          <a:lstStyle/>
          <a:p>
            <a:pPr algn="l"/>
            <a:r>
              <a:rPr sz="1200" b="0">
                <a:solidFill>
                  <a:srgbClr val="333333"/>
                </a:solidFill>
                <a:latin typeface="Consolas"/>
              </a:rPr>
              <a:t>budget: Number</a:t>
            </a:r>
          </a:p>
        </p:txBody>
      </p:sp>
      <p:sp>
        <p:nvSpPr>
          <p:cNvPr id="25" name="Rectangle 24"/>
          <p:cNvSpPr/>
          <p:nvPr/>
        </p:nvSpPr>
        <p:spPr>
          <a:xfrm>
            <a:off x="8686800" y="1645920"/>
            <a:ext cx="38404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1664208"/>
            <a:ext cx="3840480" cy="320040"/>
          </a:xfrm>
          <a:prstGeom prst="rect">
            <a:avLst/>
          </a:prstGeom>
          <a:noFill/>
        </p:spPr>
        <p:txBody>
          <a:bodyPr wrap="square">
            <a:spAutoFit/>
          </a:bodyPr>
          <a:lstStyle/>
          <a:p>
            <a:pPr algn="ctr"/>
            <a:r>
              <a:rPr sz="1600" b="1">
                <a:solidFill>
                  <a:srgbClr val="FFFFFF"/>
                </a:solidFill>
                <a:latin typeface="Times New Roman"/>
              </a:rPr>
              <a:t>TASK</a:t>
            </a:r>
          </a:p>
        </p:txBody>
      </p:sp>
      <p:sp>
        <p:nvSpPr>
          <p:cNvPr id="28" name="TextBox 27"/>
          <p:cNvSpPr txBox="1"/>
          <p:nvPr/>
        </p:nvSpPr>
        <p:spPr>
          <a:xfrm>
            <a:off x="8778240" y="2084832"/>
            <a:ext cx="3657600" cy="237744"/>
          </a:xfrm>
          <a:prstGeom prst="rect">
            <a:avLst/>
          </a:prstGeom>
          <a:noFill/>
        </p:spPr>
        <p:txBody>
          <a:bodyPr wrap="square">
            <a:spAutoFit/>
          </a:bodyPr>
          <a:lstStyle/>
          <a:p>
            <a:pPr algn="l"/>
            <a:r>
              <a:rPr sz="1200" b="0">
                <a:solidFill>
                  <a:srgbClr val="3C6CA8"/>
                </a:solidFill>
                <a:latin typeface="Consolas"/>
              </a:rPr>
              <a:t>PK _id: ObjectId</a:t>
            </a:r>
          </a:p>
        </p:txBody>
      </p:sp>
      <p:sp>
        <p:nvSpPr>
          <p:cNvPr id="29" name="TextBox 28"/>
          <p:cNvSpPr txBox="1"/>
          <p:nvPr/>
        </p:nvSpPr>
        <p:spPr>
          <a:xfrm>
            <a:off x="8778240" y="2340864"/>
            <a:ext cx="3657600" cy="237744"/>
          </a:xfrm>
          <a:prstGeom prst="rect">
            <a:avLst/>
          </a:prstGeom>
          <a:noFill/>
        </p:spPr>
        <p:txBody>
          <a:bodyPr wrap="square">
            <a:spAutoFit/>
          </a:bodyPr>
          <a:lstStyle/>
          <a:p>
            <a:pPr algn="l"/>
            <a:r>
              <a:rPr sz="1200" b="0">
                <a:solidFill>
                  <a:srgbClr val="3C6CA8"/>
                </a:solidFill>
                <a:latin typeface="Consolas"/>
              </a:rPr>
              <a:t>FK projectId → PROJECT</a:t>
            </a:r>
          </a:p>
        </p:txBody>
      </p:sp>
      <p:sp>
        <p:nvSpPr>
          <p:cNvPr id="30" name="TextBox 29"/>
          <p:cNvSpPr txBox="1"/>
          <p:nvPr/>
        </p:nvSpPr>
        <p:spPr>
          <a:xfrm>
            <a:off x="8778240" y="2596896"/>
            <a:ext cx="3657600" cy="237744"/>
          </a:xfrm>
          <a:prstGeom prst="rect">
            <a:avLst/>
          </a:prstGeom>
          <a:noFill/>
        </p:spPr>
        <p:txBody>
          <a:bodyPr wrap="square">
            <a:spAutoFit/>
          </a:bodyPr>
          <a:lstStyle/>
          <a:p>
            <a:pPr algn="l"/>
            <a:r>
              <a:rPr sz="1200" b="0">
                <a:solidFill>
                  <a:srgbClr val="333333"/>
                </a:solidFill>
                <a:latin typeface="Consolas"/>
              </a:rPr>
              <a:t>title: String</a:t>
            </a:r>
          </a:p>
        </p:txBody>
      </p:sp>
      <p:sp>
        <p:nvSpPr>
          <p:cNvPr id="31" name="TextBox 30"/>
          <p:cNvSpPr txBox="1"/>
          <p:nvPr/>
        </p:nvSpPr>
        <p:spPr>
          <a:xfrm>
            <a:off x="8778240" y="2852928"/>
            <a:ext cx="3657600" cy="237744"/>
          </a:xfrm>
          <a:prstGeom prst="rect">
            <a:avLst/>
          </a:prstGeom>
          <a:noFill/>
        </p:spPr>
        <p:txBody>
          <a:bodyPr wrap="square">
            <a:spAutoFit/>
          </a:bodyPr>
          <a:lstStyle/>
          <a:p>
            <a:pPr algn="l"/>
            <a:r>
              <a:rPr sz="1200" b="0">
                <a:solidFill>
                  <a:srgbClr val="333333"/>
                </a:solidFill>
                <a:latin typeface="Consolas"/>
              </a:rPr>
              <a:t>startDate / endDate: Date</a:t>
            </a:r>
          </a:p>
        </p:txBody>
      </p:sp>
      <p:sp>
        <p:nvSpPr>
          <p:cNvPr id="32" name="TextBox 31"/>
          <p:cNvSpPr txBox="1"/>
          <p:nvPr/>
        </p:nvSpPr>
        <p:spPr>
          <a:xfrm>
            <a:off x="8778240" y="3108960"/>
            <a:ext cx="3657600" cy="237744"/>
          </a:xfrm>
          <a:prstGeom prst="rect">
            <a:avLst/>
          </a:prstGeom>
          <a:noFill/>
        </p:spPr>
        <p:txBody>
          <a:bodyPr wrap="square">
            <a:spAutoFit/>
          </a:bodyPr>
          <a:lstStyle/>
          <a:p>
            <a:pPr algn="l"/>
            <a:r>
              <a:rPr sz="1200" b="0">
                <a:solidFill>
                  <a:srgbClr val="333333"/>
                </a:solidFill>
                <a:latin typeface="Consolas"/>
              </a:rPr>
              <a:t>status: Enum(4)</a:t>
            </a:r>
          </a:p>
        </p:txBody>
      </p:sp>
      <p:sp>
        <p:nvSpPr>
          <p:cNvPr id="33" name="TextBox 32"/>
          <p:cNvSpPr txBox="1"/>
          <p:nvPr/>
        </p:nvSpPr>
        <p:spPr>
          <a:xfrm>
            <a:off x="8778240" y="3364992"/>
            <a:ext cx="3657600" cy="237744"/>
          </a:xfrm>
          <a:prstGeom prst="rect">
            <a:avLst/>
          </a:prstGeom>
          <a:noFill/>
        </p:spPr>
        <p:txBody>
          <a:bodyPr wrap="square">
            <a:spAutoFit/>
          </a:bodyPr>
          <a:lstStyle/>
          <a:p>
            <a:pPr algn="l"/>
            <a:r>
              <a:rPr sz="1200" b="0">
                <a:solidFill>
                  <a:srgbClr val="3C6CA8"/>
                </a:solidFill>
                <a:latin typeface="Consolas"/>
              </a:rPr>
              <a:t>FK dependencyTaskId → TASK</a:t>
            </a:r>
          </a:p>
        </p:txBody>
      </p:sp>
      <p:sp>
        <p:nvSpPr>
          <p:cNvPr id="34" name="TextBox 33"/>
          <p:cNvSpPr txBox="1"/>
          <p:nvPr/>
        </p:nvSpPr>
        <p:spPr>
          <a:xfrm>
            <a:off x="8778240" y="3621024"/>
            <a:ext cx="3657600" cy="237744"/>
          </a:xfrm>
          <a:prstGeom prst="rect">
            <a:avLst/>
          </a:prstGeom>
          <a:noFill/>
        </p:spPr>
        <p:txBody>
          <a:bodyPr wrap="square">
            <a:spAutoFit/>
          </a:bodyPr>
          <a:lstStyle/>
          <a:p>
            <a:pPr algn="l"/>
            <a:r>
              <a:rPr sz="1200" b="0">
                <a:solidFill>
                  <a:srgbClr val="3C6CA8"/>
                </a:solidFill>
                <a:latin typeface="Consolas"/>
              </a:rPr>
              <a:t>FK assignedResource → RESOURCE</a:t>
            </a:r>
          </a:p>
        </p:txBody>
      </p:sp>
      <p:sp>
        <p:nvSpPr>
          <p:cNvPr id="35" name="TextBox 34"/>
          <p:cNvSpPr txBox="1"/>
          <p:nvPr/>
        </p:nvSpPr>
        <p:spPr>
          <a:xfrm>
            <a:off x="8778240" y="3877056"/>
            <a:ext cx="3657600" cy="237744"/>
          </a:xfrm>
          <a:prstGeom prst="rect">
            <a:avLst/>
          </a:prstGeom>
          <a:noFill/>
        </p:spPr>
        <p:txBody>
          <a:bodyPr wrap="square">
            <a:spAutoFit/>
          </a:bodyPr>
          <a:lstStyle/>
          <a:p>
            <a:pPr algn="l"/>
            <a:r>
              <a:rPr sz="1200" b="0">
                <a:solidFill>
                  <a:srgbClr val="333333"/>
                </a:solidFill>
                <a:latin typeface="Consolas"/>
              </a:rPr>
              <a:t>milestone: Boolean</a:t>
            </a:r>
          </a:p>
        </p:txBody>
      </p:sp>
      <p:sp>
        <p:nvSpPr>
          <p:cNvPr id="36" name="TextBox 35"/>
          <p:cNvSpPr txBox="1"/>
          <p:nvPr/>
        </p:nvSpPr>
        <p:spPr>
          <a:xfrm>
            <a:off x="8778240" y="4133088"/>
            <a:ext cx="3657600" cy="237744"/>
          </a:xfrm>
          <a:prstGeom prst="rect">
            <a:avLst/>
          </a:prstGeom>
          <a:noFill/>
        </p:spPr>
        <p:txBody>
          <a:bodyPr wrap="square">
            <a:spAutoFit/>
          </a:bodyPr>
          <a:lstStyle/>
          <a:p>
            <a:pPr algn="l"/>
            <a:r>
              <a:rPr sz="1200" b="0">
                <a:solidFill>
                  <a:srgbClr val="333333"/>
                </a:solidFill>
                <a:latin typeface="Consolas"/>
              </a:rPr>
              <a:t>progress: Number</a:t>
            </a:r>
          </a:p>
        </p:txBody>
      </p:sp>
      <p:sp>
        <p:nvSpPr>
          <p:cNvPr id="37" name="Rectangle 36"/>
          <p:cNvSpPr/>
          <p:nvPr/>
        </p:nvSpPr>
        <p:spPr>
          <a:xfrm>
            <a:off x="12984480" y="1645920"/>
            <a:ext cx="38404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984480" y="1645920"/>
            <a:ext cx="384048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984480" y="1664208"/>
            <a:ext cx="3840480" cy="320040"/>
          </a:xfrm>
          <a:prstGeom prst="rect">
            <a:avLst/>
          </a:prstGeom>
          <a:noFill/>
        </p:spPr>
        <p:txBody>
          <a:bodyPr wrap="square">
            <a:spAutoFit/>
          </a:bodyPr>
          <a:lstStyle/>
          <a:p>
            <a:pPr algn="ctr"/>
            <a:r>
              <a:rPr sz="1600" b="1">
                <a:solidFill>
                  <a:srgbClr val="FFFFFF"/>
                </a:solidFill>
                <a:latin typeface="Times New Roman"/>
              </a:rPr>
              <a:t>RESOURCE</a:t>
            </a:r>
          </a:p>
        </p:txBody>
      </p:sp>
      <p:sp>
        <p:nvSpPr>
          <p:cNvPr id="40" name="TextBox 39"/>
          <p:cNvSpPr txBox="1"/>
          <p:nvPr/>
        </p:nvSpPr>
        <p:spPr>
          <a:xfrm>
            <a:off x="13075920" y="2084832"/>
            <a:ext cx="3657600" cy="237744"/>
          </a:xfrm>
          <a:prstGeom prst="rect">
            <a:avLst/>
          </a:prstGeom>
          <a:noFill/>
        </p:spPr>
        <p:txBody>
          <a:bodyPr wrap="square">
            <a:spAutoFit/>
          </a:bodyPr>
          <a:lstStyle/>
          <a:p>
            <a:pPr algn="l"/>
            <a:r>
              <a:rPr sz="1200" b="0">
                <a:solidFill>
                  <a:srgbClr val="3C6CA8"/>
                </a:solidFill>
                <a:latin typeface="Consolas"/>
              </a:rPr>
              <a:t>PK _id: ObjectId</a:t>
            </a:r>
          </a:p>
        </p:txBody>
      </p:sp>
      <p:sp>
        <p:nvSpPr>
          <p:cNvPr id="41" name="TextBox 40"/>
          <p:cNvSpPr txBox="1"/>
          <p:nvPr/>
        </p:nvSpPr>
        <p:spPr>
          <a:xfrm>
            <a:off x="13075920" y="2340864"/>
            <a:ext cx="3657600" cy="237744"/>
          </a:xfrm>
          <a:prstGeom prst="rect">
            <a:avLst/>
          </a:prstGeom>
          <a:noFill/>
        </p:spPr>
        <p:txBody>
          <a:bodyPr wrap="square">
            <a:spAutoFit/>
          </a:bodyPr>
          <a:lstStyle/>
          <a:p>
            <a:pPr algn="l"/>
            <a:r>
              <a:rPr sz="1200" b="0">
                <a:solidFill>
                  <a:srgbClr val="333333"/>
                </a:solidFill>
                <a:latin typeface="Consolas"/>
              </a:rPr>
              <a:t>name: String</a:t>
            </a:r>
          </a:p>
        </p:txBody>
      </p:sp>
      <p:sp>
        <p:nvSpPr>
          <p:cNvPr id="42" name="TextBox 41"/>
          <p:cNvSpPr txBox="1"/>
          <p:nvPr/>
        </p:nvSpPr>
        <p:spPr>
          <a:xfrm>
            <a:off x="13075920" y="2596896"/>
            <a:ext cx="3657600" cy="237744"/>
          </a:xfrm>
          <a:prstGeom prst="rect">
            <a:avLst/>
          </a:prstGeom>
          <a:noFill/>
        </p:spPr>
        <p:txBody>
          <a:bodyPr wrap="square">
            <a:spAutoFit/>
          </a:bodyPr>
          <a:lstStyle/>
          <a:p>
            <a:pPr algn="l"/>
            <a:r>
              <a:rPr sz="1200" b="0">
                <a:solidFill>
                  <a:srgbClr val="333333"/>
                </a:solidFill>
                <a:latin typeface="Consolas"/>
              </a:rPr>
              <a:t>email: String</a:t>
            </a:r>
          </a:p>
        </p:txBody>
      </p:sp>
      <p:sp>
        <p:nvSpPr>
          <p:cNvPr id="43" name="TextBox 42"/>
          <p:cNvSpPr txBox="1"/>
          <p:nvPr/>
        </p:nvSpPr>
        <p:spPr>
          <a:xfrm>
            <a:off x="13075920" y="2852928"/>
            <a:ext cx="3657600" cy="237744"/>
          </a:xfrm>
          <a:prstGeom prst="rect">
            <a:avLst/>
          </a:prstGeom>
          <a:noFill/>
        </p:spPr>
        <p:txBody>
          <a:bodyPr wrap="square">
            <a:spAutoFit/>
          </a:bodyPr>
          <a:lstStyle/>
          <a:p>
            <a:pPr algn="l"/>
            <a:r>
              <a:rPr sz="1200" b="0">
                <a:solidFill>
                  <a:srgbClr val="333333"/>
                </a:solidFill>
                <a:latin typeface="Consolas"/>
              </a:rPr>
              <a:t>role: String</a:t>
            </a:r>
          </a:p>
        </p:txBody>
      </p:sp>
      <p:sp>
        <p:nvSpPr>
          <p:cNvPr id="44" name="TextBox 43"/>
          <p:cNvSpPr txBox="1"/>
          <p:nvPr/>
        </p:nvSpPr>
        <p:spPr>
          <a:xfrm>
            <a:off x="13075920" y="3108960"/>
            <a:ext cx="3657600" cy="237744"/>
          </a:xfrm>
          <a:prstGeom prst="rect">
            <a:avLst/>
          </a:prstGeom>
          <a:noFill/>
        </p:spPr>
        <p:txBody>
          <a:bodyPr wrap="square">
            <a:spAutoFit/>
          </a:bodyPr>
          <a:lstStyle/>
          <a:p>
            <a:pPr algn="l"/>
            <a:r>
              <a:rPr sz="1200" b="0">
                <a:solidFill>
                  <a:srgbClr val="333333"/>
                </a:solidFill>
                <a:latin typeface="Consolas"/>
              </a:rPr>
              <a:t>department: String</a:t>
            </a:r>
          </a:p>
        </p:txBody>
      </p:sp>
      <p:sp>
        <p:nvSpPr>
          <p:cNvPr id="45" name="TextBox 44"/>
          <p:cNvSpPr txBox="1"/>
          <p:nvPr/>
        </p:nvSpPr>
        <p:spPr>
          <a:xfrm>
            <a:off x="13075920" y="3364992"/>
            <a:ext cx="3657600" cy="237744"/>
          </a:xfrm>
          <a:prstGeom prst="rect">
            <a:avLst/>
          </a:prstGeom>
          <a:noFill/>
        </p:spPr>
        <p:txBody>
          <a:bodyPr wrap="square">
            <a:spAutoFit/>
          </a:bodyPr>
          <a:lstStyle/>
          <a:p>
            <a:pPr algn="l"/>
            <a:r>
              <a:rPr sz="1200" b="0">
                <a:solidFill>
                  <a:srgbClr val="333333"/>
                </a:solidFill>
                <a:latin typeface="Consolas"/>
              </a:rPr>
              <a:t>availability: Boolean</a:t>
            </a:r>
          </a:p>
        </p:txBody>
      </p:sp>
      <p:sp>
        <p:nvSpPr>
          <p:cNvPr id="46" name="TextBox 45"/>
          <p:cNvSpPr txBox="1"/>
          <p:nvPr/>
        </p:nvSpPr>
        <p:spPr>
          <a:xfrm>
            <a:off x="13075920" y="3621024"/>
            <a:ext cx="3657600" cy="237744"/>
          </a:xfrm>
          <a:prstGeom prst="rect">
            <a:avLst/>
          </a:prstGeom>
          <a:noFill/>
        </p:spPr>
        <p:txBody>
          <a:bodyPr wrap="square">
            <a:spAutoFit/>
          </a:bodyPr>
          <a:lstStyle/>
          <a:p>
            <a:pPr algn="l"/>
            <a:r>
              <a:rPr sz="1200" b="0">
                <a:solidFill>
                  <a:srgbClr val="333333"/>
                </a:solidFill>
                <a:latin typeface="Consolas"/>
              </a:rPr>
              <a:t>skills: String[]</a:t>
            </a:r>
          </a:p>
        </p:txBody>
      </p:sp>
      <p:sp>
        <p:nvSpPr>
          <p:cNvPr id="47" name="TextBox 46"/>
          <p:cNvSpPr txBox="1"/>
          <p:nvPr/>
        </p:nvSpPr>
        <p:spPr>
          <a:xfrm>
            <a:off x="13075920" y="3877056"/>
            <a:ext cx="3657600" cy="237744"/>
          </a:xfrm>
          <a:prstGeom prst="rect">
            <a:avLst/>
          </a:prstGeom>
          <a:noFill/>
        </p:spPr>
        <p:txBody>
          <a:bodyPr wrap="square">
            <a:spAutoFit/>
          </a:bodyPr>
          <a:lstStyle/>
          <a:p>
            <a:pPr algn="l"/>
            <a:r>
              <a:rPr sz="1200" b="0">
                <a:solidFill>
                  <a:srgbClr val="333333"/>
                </a:solidFill>
                <a:latin typeface="Consolas"/>
              </a:rPr>
              <a:t>maxHoursPerWeek: Number</a:t>
            </a:r>
          </a:p>
        </p:txBody>
      </p:sp>
      <p:sp>
        <p:nvSpPr>
          <p:cNvPr id="48" name="TextBox 47"/>
          <p:cNvSpPr txBox="1"/>
          <p:nvPr/>
        </p:nvSpPr>
        <p:spPr>
          <a:xfrm>
            <a:off x="457200" y="6400800"/>
            <a:ext cx="15544800" cy="914400"/>
          </a:xfrm>
          <a:prstGeom prst="rect">
            <a:avLst/>
          </a:prstGeom>
          <a:noFill/>
        </p:spPr>
        <p:txBody>
          <a:bodyPr wrap="square">
            <a:spAutoFit/>
          </a:bodyPr>
          <a:lstStyle/>
          <a:p>
            <a:pPr algn="l">
              <a:lnSpc>
                <a:spcPts val="2250"/>
              </a:lnSpc>
            </a:pPr>
            <a:r>
              <a:rPr sz="1500" b="0">
                <a:solidFill>
                  <a:srgbClr val="1E3A5F"/>
                </a:solidFill>
                <a:latin typeface="Times New Roman"/>
              </a:rPr>
              <a:t>Relationships:
PROJECT ─── [1 : Many] ───► TASK    |    TASK ─── [Many : 0..1] ───► TASK (dependency)    |    TASK ─── [Many : 0..1] ───► RESOURCE (assignment)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MODULES &amp; KEY FEATURES</a:t>
            </a:r>
          </a:p>
        </p:txBody>
      </p:sp>
      <p:sp>
        <p:nvSpPr>
          <p:cNvPr id="3" name="Rounded Rectangle 2"/>
          <p:cNvSpPr/>
          <p:nvPr/>
        </p:nvSpPr>
        <p:spPr>
          <a:xfrm>
            <a:off x="457200" y="182880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4754880" cy="365760"/>
          </a:xfrm>
          <a:prstGeom prst="rect">
            <a:avLst/>
          </a:prstGeom>
          <a:noFill/>
        </p:spPr>
        <p:txBody>
          <a:bodyPr wrap="square">
            <a:spAutoFit/>
          </a:bodyPr>
          <a:lstStyle/>
          <a:p>
            <a:pPr algn="l"/>
            <a:r>
              <a:rPr sz="2000" b="1">
                <a:solidFill>
                  <a:srgbClr val="1E3A5F"/>
                </a:solidFill>
                <a:latin typeface="Times New Roman"/>
              </a:rPr>
              <a:t>📊 Dashboard</a:t>
            </a:r>
          </a:p>
        </p:txBody>
      </p:sp>
      <p:sp>
        <p:nvSpPr>
          <p:cNvPr id="5" name="TextBox 4"/>
          <p:cNvSpPr txBox="1"/>
          <p:nvPr/>
        </p:nvSpPr>
        <p:spPr>
          <a:xfrm>
            <a:off x="731520" y="246888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Real-time KPI cards (6 metrics)</a:t>
            </a:r>
          </a:p>
          <a:p>
            <a:pPr>
              <a:spcBef>
                <a:spcPts val="400"/>
              </a:spcBef>
              <a:spcAft>
                <a:spcPts val="600"/>
              </a:spcAft>
            </a:pPr>
            <a:r>
              <a:rPr sz="1600" b="0">
                <a:solidFill>
                  <a:srgbClr val="333333"/>
                </a:solidFill>
                <a:latin typeface="Times New Roman"/>
              </a:rPr>
              <a:t>▸ Task status doughnut chart</a:t>
            </a:r>
          </a:p>
          <a:p>
            <a:pPr>
              <a:spcBef>
                <a:spcPts val="400"/>
              </a:spcBef>
              <a:spcAft>
                <a:spcPts val="600"/>
              </a:spcAft>
            </a:pPr>
            <a:r>
              <a:rPr sz="1600" b="0">
                <a:solidFill>
                  <a:srgbClr val="333333"/>
                </a:solidFill>
                <a:latin typeface="Times New Roman"/>
              </a:rPr>
              <a:t>▸ Project progress bar chart</a:t>
            </a:r>
          </a:p>
          <a:p>
            <a:pPr>
              <a:spcBef>
                <a:spcPts val="400"/>
              </a:spcBef>
              <a:spcAft>
                <a:spcPts val="600"/>
              </a:spcAft>
            </a:pPr>
            <a:r>
              <a:rPr sz="1600" b="0">
                <a:solidFill>
                  <a:srgbClr val="333333"/>
                </a:solidFill>
                <a:latin typeface="Times New Roman"/>
              </a:rPr>
              <a:t>▸ Recent activities &amp; deadlines</a:t>
            </a:r>
          </a:p>
        </p:txBody>
      </p:sp>
      <p:sp>
        <p:nvSpPr>
          <p:cNvPr id="6" name="Rounded Rectangle 5"/>
          <p:cNvSpPr/>
          <p:nvPr/>
        </p:nvSpPr>
        <p:spPr>
          <a:xfrm>
            <a:off x="6126480" y="182880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65960"/>
            <a:ext cx="4754880" cy="365760"/>
          </a:xfrm>
          <a:prstGeom prst="rect">
            <a:avLst/>
          </a:prstGeom>
          <a:noFill/>
        </p:spPr>
        <p:txBody>
          <a:bodyPr wrap="square">
            <a:spAutoFit/>
          </a:bodyPr>
          <a:lstStyle/>
          <a:p>
            <a:pPr algn="l"/>
            <a:r>
              <a:rPr sz="2000" b="1">
                <a:solidFill>
                  <a:srgbClr val="1E3A5F"/>
                </a:solidFill>
                <a:latin typeface="Times New Roman"/>
              </a:rPr>
              <a:t>📁 Projects</a:t>
            </a:r>
          </a:p>
        </p:txBody>
      </p:sp>
      <p:sp>
        <p:nvSpPr>
          <p:cNvPr id="8" name="TextBox 7"/>
          <p:cNvSpPr txBox="1"/>
          <p:nvPr/>
        </p:nvSpPr>
        <p:spPr>
          <a:xfrm>
            <a:off x="6400800" y="246888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Create/Edit/Delete projects</a:t>
            </a:r>
          </a:p>
          <a:p>
            <a:pPr>
              <a:spcBef>
                <a:spcPts val="400"/>
              </a:spcBef>
              <a:spcAft>
                <a:spcPts val="600"/>
              </a:spcAft>
            </a:pPr>
            <a:r>
              <a:rPr sz="1600" b="0">
                <a:solidFill>
                  <a:srgbClr val="333333"/>
                </a:solidFill>
                <a:latin typeface="Times New Roman"/>
              </a:rPr>
              <a:t>▸ Search, filter, sort, paginate</a:t>
            </a:r>
          </a:p>
          <a:p>
            <a:pPr>
              <a:spcBef>
                <a:spcPts val="400"/>
              </a:spcBef>
              <a:spcAft>
                <a:spcPts val="600"/>
              </a:spcAft>
            </a:pPr>
            <a:r>
              <a:rPr sz="1600" b="0">
                <a:solidFill>
                  <a:srgbClr val="333333"/>
                </a:solidFill>
                <a:latin typeface="Times New Roman"/>
              </a:rPr>
              <a:t>▸ Priority &amp; status badges</a:t>
            </a:r>
          </a:p>
          <a:p>
            <a:pPr>
              <a:spcBef>
                <a:spcPts val="400"/>
              </a:spcBef>
              <a:spcAft>
                <a:spcPts val="600"/>
              </a:spcAft>
            </a:pPr>
            <a:r>
              <a:rPr sz="1600" b="0">
                <a:solidFill>
                  <a:srgbClr val="333333"/>
                </a:solidFill>
                <a:latin typeface="Times New Roman"/>
              </a:rPr>
              <a:t>▸ Auto-delay detection</a:t>
            </a:r>
          </a:p>
        </p:txBody>
      </p:sp>
      <p:sp>
        <p:nvSpPr>
          <p:cNvPr id="9" name="Rounded Rectangle 8"/>
          <p:cNvSpPr/>
          <p:nvPr/>
        </p:nvSpPr>
        <p:spPr>
          <a:xfrm>
            <a:off x="11795760" y="182880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80" y="1965960"/>
            <a:ext cx="4754880" cy="365760"/>
          </a:xfrm>
          <a:prstGeom prst="rect">
            <a:avLst/>
          </a:prstGeom>
          <a:noFill/>
        </p:spPr>
        <p:txBody>
          <a:bodyPr wrap="square">
            <a:spAutoFit/>
          </a:bodyPr>
          <a:lstStyle/>
          <a:p>
            <a:pPr algn="l"/>
            <a:r>
              <a:rPr sz="2000" b="1">
                <a:solidFill>
                  <a:srgbClr val="1E3A5F"/>
                </a:solidFill>
                <a:latin typeface="Times New Roman"/>
              </a:rPr>
              <a:t>✅ Tasks</a:t>
            </a:r>
          </a:p>
        </p:txBody>
      </p:sp>
      <p:sp>
        <p:nvSpPr>
          <p:cNvPr id="11" name="TextBox 10"/>
          <p:cNvSpPr txBox="1"/>
          <p:nvPr/>
        </p:nvSpPr>
        <p:spPr>
          <a:xfrm>
            <a:off x="12070080" y="246888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CRUD per project + global view</a:t>
            </a:r>
          </a:p>
          <a:p>
            <a:pPr>
              <a:spcBef>
                <a:spcPts val="400"/>
              </a:spcBef>
              <a:spcAft>
                <a:spcPts val="600"/>
              </a:spcAft>
            </a:pPr>
            <a:r>
              <a:rPr sz="1600" b="0">
                <a:solidFill>
                  <a:srgbClr val="333333"/>
                </a:solidFill>
                <a:latin typeface="Times New Roman"/>
              </a:rPr>
              <a:t>▸ Dependency &amp; milestone flags</a:t>
            </a:r>
          </a:p>
          <a:p>
            <a:pPr>
              <a:spcBef>
                <a:spcPts val="400"/>
              </a:spcBef>
              <a:spcAft>
                <a:spcPts val="600"/>
              </a:spcAft>
            </a:pPr>
            <a:r>
              <a:rPr sz="1600" b="0">
                <a:solidFill>
                  <a:srgbClr val="333333"/>
                </a:solidFill>
                <a:latin typeface="Times New Roman"/>
              </a:rPr>
              <a:t>▸ Resource assignment</a:t>
            </a:r>
          </a:p>
          <a:p>
            <a:pPr>
              <a:spcBef>
                <a:spcPts val="400"/>
              </a:spcBef>
              <a:spcAft>
                <a:spcPts val="600"/>
              </a:spcAft>
            </a:pPr>
            <a:r>
              <a:rPr sz="1600" b="0">
                <a:solidFill>
                  <a:srgbClr val="333333"/>
                </a:solidFill>
                <a:latin typeface="Times New Roman"/>
              </a:rPr>
              <a:t>▸ Progress % tracking</a:t>
            </a:r>
          </a:p>
        </p:txBody>
      </p:sp>
      <p:sp>
        <p:nvSpPr>
          <p:cNvPr id="12" name="Rounded Rectangle 11"/>
          <p:cNvSpPr/>
          <p:nvPr/>
        </p:nvSpPr>
        <p:spPr>
          <a:xfrm>
            <a:off x="457200" y="530352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440680"/>
            <a:ext cx="4754880" cy="365760"/>
          </a:xfrm>
          <a:prstGeom prst="rect">
            <a:avLst/>
          </a:prstGeom>
          <a:noFill/>
        </p:spPr>
        <p:txBody>
          <a:bodyPr wrap="square">
            <a:spAutoFit/>
          </a:bodyPr>
          <a:lstStyle/>
          <a:p>
            <a:pPr algn="l"/>
            <a:r>
              <a:rPr sz="2000" b="1">
                <a:solidFill>
                  <a:srgbClr val="1E3A5F"/>
                </a:solidFill>
                <a:latin typeface="Times New Roman"/>
              </a:rPr>
              <a:t>📅 Gantt Chart</a:t>
            </a:r>
          </a:p>
        </p:txBody>
      </p:sp>
      <p:sp>
        <p:nvSpPr>
          <p:cNvPr id="14" name="TextBox 13"/>
          <p:cNvSpPr txBox="1"/>
          <p:nvPr/>
        </p:nvSpPr>
        <p:spPr>
          <a:xfrm>
            <a:off x="731520" y="594360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dhtmlx-gantt library</a:t>
            </a:r>
          </a:p>
          <a:p>
            <a:pPr>
              <a:spcBef>
                <a:spcPts val="400"/>
              </a:spcBef>
              <a:spcAft>
                <a:spcPts val="600"/>
              </a:spcAft>
            </a:pPr>
            <a:r>
              <a:rPr sz="1600" b="0">
                <a:solidFill>
                  <a:srgbClr val="333333"/>
                </a:solidFill>
                <a:latin typeface="Times New Roman"/>
              </a:rPr>
              <a:t>▸ Drag-and-drop scheduling</a:t>
            </a:r>
          </a:p>
          <a:p>
            <a:pPr>
              <a:spcBef>
                <a:spcPts val="400"/>
              </a:spcBef>
              <a:spcAft>
                <a:spcPts val="600"/>
              </a:spcAft>
            </a:pPr>
            <a:r>
              <a:rPr sz="1600" b="0">
                <a:solidFill>
                  <a:srgbClr val="333333"/>
                </a:solidFill>
                <a:latin typeface="Times New Roman"/>
              </a:rPr>
              <a:t>▸ Dependency arrows</a:t>
            </a:r>
          </a:p>
          <a:p>
            <a:pPr>
              <a:spcBef>
                <a:spcPts val="400"/>
              </a:spcBef>
              <a:spcAft>
                <a:spcPts val="600"/>
              </a:spcAft>
            </a:pPr>
            <a:r>
              <a:rPr sz="1600" b="0">
                <a:solidFill>
                  <a:srgbClr val="333333"/>
                </a:solidFill>
                <a:latin typeface="Times New Roman"/>
              </a:rPr>
              <a:t>▸ Zoom: Hours/Days/Weeks/Months</a:t>
            </a:r>
          </a:p>
        </p:txBody>
      </p:sp>
      <p:sp>
        <p:nvSpPr>
          <p:cNvPr id="15" name="Rounded Rectangle 14"/>
          <p:cNvSpPr/>
          <p:nvPr/>
        </p:nvSpPr>
        <p:spPr>
          <a:xfrm>
            <a:off x="6126480" y="530352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5440680"/>
            <a:ext cx="4754880" cy="365760"/>
          </a:xfrm>
          <a:prstGeom prst="rect">
            <a:avLst/>
          </a:prstGeom>
          <a:noFill/>
        </p:spPr>
        <p:txBody>
          <a:bodyPr wrap="square">
            <a:spAutoFit/>
          </a:bodyPr>
          <a:lstStyle/>
          <a:p>
            <a:pPr algn="l"/>
            <a:r>
              <a:rPr sz="2000" b="1">
                <a:solidFill>
                  <a:srgbClr val="1E3A5F"/>
                </a:solidFill>
                <a:latin typeface="Times New Roman"/>
              </a:rPr>
              <a:t>👥 Resources</a:t>
            </a:r>
          </a:p>
        </p:txBody>
      </p:sp>
      <p:sp>
        <p:nvSpPr>
          <p:cNvPr id="17" name="TextBox 16"/>
          <p:cNvSpPr txBox="1"/>
          <p:nvPr/>
        </p:nvSpPr>
        <p:spPr>
          <a:xfrm>
            <a:off x="6400800" y="594360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Team member profiles</a:t>
            </a:r>
          </a:p>
          <a:p>
            <a:pPr>
              <a:spcBef>
                <a:spcPts val="400"/>
              </a:spcBef>
              <a:spcAft>
                <a:spcPts val="600"/>
              </a:spcAft>
            </a:pPr>
            <a:r>
              <a:rPr sz="1600" b="0">
                <a:solidFill>
                  <a:srgbClr val="333333"/>
                </a:solidFill>
                <a:latin typeface="Times New Roman"/>
              </a:rPr>
              <a:t>▸ Utilization % auto-computed</a:t>
            </a:r>
          </a:p>
          <a:p>
            <a:pPr>
              <a:spcBef>
                <a:spcPts val="400"/>
              </a:spcBef>
              <a:spcAft>
                <a:spcPts val="600"/>
              </a:spcAft>
            </a:pPr>
            <a:r>
              <a:rPr sz="1600" b="0">
                <a:solidFill>
                  <a:srgbClr val="333333"/>
                </a:solidFill>
                <a:latin typeface="Times New Roman"/>
              </a:rPr>
              <a:t>▸ Availability status</a:t>
            </a:r>
          </a:p>
          <a:p>
            <a:pPr>
              <a:spcBef>
                <a:spcPts val="400"/>
              </a:spcBef>
              <a:spcAft>
                <a:spcPts val="600"/>
              </a:spcAft>
            </a:pPr>
            <a:r>
              <a:rPr sz="1600" b="0">
                <a:solidFill>
                  <a:srgbClr val="333333"/>
                </a:solidFill>
                <a:latin typeface="Times New Roman"/>
              </a:rPr>
              <a:t>▸ Skills &amp; department info</a:t>
            </a:r>
          </a:p>
        </p:txBody>
      </p:sp>
      <p:sp>
        <p:nvSpPr>
          <p:cNvPr id="18" name="Rounded Rectangle 17"/>
          <p:cNvSpPr/>
          <p:nvPr/>
        </p:nvSpPr>
        <p:spPr>
          <a:xfrm>
            <a:off x="11795760" y="5303520"/>
            <a:ext cx="5303520" cy="29260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80" y="5440680"/>
            <a:ext cx="4754880" cy="365760"/>
          </a:xfrm>
          <a:prstGeom prst="rect">
            <a:avLst/>
          </a:prstGeom>
          <a:noFill/>
        </p:spPr>
        <p:txBody>
          <a:bodyPr wrap="square">
            <a:spAutoFit/>
          </a:bodyPr>
          <a:lstStyle/>
          <a:p>
            <a:pPr algn="l"/>
            <a:r>
              <a:rPr sz="2000" b="1">
                <a:solidFill>
                  <a:srgbClr val="1E3A5F"/>
                </a:solidFill>
                <a:latin typeface="Times New Roman"/>
              </a:rPr>
              <a:t>🔐 Auth &amp; Email</a:t>
            </a:r>
          </a:p>
        </p:txBody>
      </p:sp>
      <p:sp>
        <p:nvSpPr>
          <p:cNvPr id="20" name="TextBox 19"/>
          <p:cNvSpPr txBox="1"/>
          <p:nvPr/>
        </p:nvSpPr>
        <p:spPr>
          <a:xfrm>
            <a:off x="12070080" y="5943600"/>
            <a:ext cx="4754880" cy="2103120"/>
          </a:xfrm>
          <a:prstGeom prst="rect">
            <a:avLst/>
          </a:prstGeom>
          <a:noFill/>
        </p:spPr>
        <p:txBody>
          <a:bodyPr wrap="square">
            <a:spAutoFit/>
          </a:bodyPr>
          <a:lstStyle/>
          <a:p>
            <a:pPr>
              <a:spcBef>
                <a:spcPts val="400"/>
              </a:spcBef>
              <a:spcAft>
                <a:spcPts val="600"/>
              </a:spcAft>
            </a:pPr>
            <a:r>
              <a:rPr sz="1600" b="0">
                <a:solidFill>
                  <a:srgbClr val="333333"/>
                </a:solidFill>
                <a:latin typeface="Times New Roman"/>
              </a:rPr>
              <a:t>▸ JWT + OTP password reset</a:t>
            </a:r>
          </a:p>
          <a:p>
            <a:pPr>
              <a:spcBef>
                <a:spcPts val="400"/>
              </a:spcBef>
              <a:spcAft>
                <a:spcPts val="600"/>
              </a:spcAft>
            </a:pPr>
            <a:r>
              <a:rPr sz="1600" b="0">
                <a:solidFill>
                  <a:srgbClr val="333333"/>
                </a:solidFill>
                <a:latin typeface="Times New Roman"/>
              </a:rPr>
              <a:t>▸ Nodemailer email service</a:t>
            </a:r>
          </a:p>
          <a:p>
            <a:pPr>
              <a:spcBef>
                <a:spcPts val="400"/>
              </a:spcBef>
              <a:spcAft>
                <a:spcPts val="600"/>
              </a:spcAft>
            </a:pPr>
            <a:r>
              <a:rPr sz="1600" b="0">
                <a:solidFill>
                  <a:srgbClr val="333333"/>
                </a:solidFill>
                <a:latin typeface="Times New Roman"/>
              </a:rPr>
              <a:t>▸ bcrypt password hashing</a:t>
            </a:r>
          </a:p>
          <a:p>
            <a:pPr>
              <a:spcBef>
                <a:spcPts val="400"/>
              </a:spcBef>
              <a:spcAft>
                <a:spcPts val="600"/>
              </a:spcAft>
            </a:pPr>
            <a:r>
              <a:rPr sz="1600" b="0">
                <a:solidFill>
                  <a:srgbClr val="333333"/>
                </a:solidFill>
                <a:latin typeface="Times New Roman"/>
              </a:rPr>
              <a:t>▸ Register/Login/ForgotPwd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API ENDPOINTS</a:t>
            </a:r>
          </a:p>
        </p:txBody>
      </p:sp>
      <p:graphicFrame>
        <p:nvGraphicFramePr>
          <p:cNvPr id="3" name="Table 2"/>
          <p:cNvGraphicFramePr>
            <a:graphicFrameLocks noGrp="1"/>
          </p:cNvGraphicFramePr>
          <p:nvPr/>
        </p:nvGraphicFramePr>
        <p:xfrm>
          <a:off x="1371600" y="1828800"/>
          <a:ext cx="14173200" cy="6400800"/>
        </p:xfrm>
        <a:graphic>
          <a:graphicData uri="http://schemas.openxmlformats.org/drawingml/2006/table">
            <a:tbl>
              <a:tblPr firstRow="1" bandRow="1">
                <a:tableStyleId>{5C22544A-7EE6-4342-B048-85BDC9FD1C3A}</a:tableStyleId>
              </a:tblPr>
              <a:tblGrid>
                <a:gridCol w="1828800"/>
                <a:gridCol w="5486400"/>
                <a:gridCol w="6858000"/>
              </a:tblGrid>
              <a:tr h="376517">
                <a:tc>
                  <a:txBody>
                    <a:bodyPr/>
                    <a:lstStyle/>
                    <a:p>
                      <a:pPr>
                        <a:defRPr sz="2000" b="1">
                          <a:solidFill>
                            <a:srgbClr val="FFFFFF"/>
                          </a:solidFill>
                          <a:latin typeface="Times New Roman"/>
                        </a:defRPr>
                      </a:pPr>
                      <a:r>
                        <a:t>Method</a:t>
                      </a:r>
                    </a:p>
                  </a:txBody>
                  <a:tcPr>
                    <a:solidFill>
                      <a:srgbClr val="1E3A5F"/>
                    </a:solidFill>
                  </a:tcPr>
                </a:tc>
                <a:tc>
                  <a:txBody>
                    <a:bodyPr/>
                    <a:lstStyle/>
                    <a:p>
                      <a:pPr>
                        <a:defRPr sz="2000" b="1">
                          <a:solidFill>
                            <a:srgbClr val="FFFFFF"/>
                          </a:solidFill>
                          <a:latin typeface="Times New Roman"/>
                        </a:defRPr>
                      </a:pPr>
                      <a:r>
                        <a:t>Endpoint</a:t>
                      </a:r>
                    </a:p>
                  </a:txBody>
                  <a:tcPr>
                    <a:solidFill>
                      <a:srgbClr val="1E3A5F"/>
                    </a:solidFill>
                  </a:tcPr>
                </a:tc>
                <a:tc>
                  <a:txBody>
                    <a:bodyPr/>
                    <a:lstStyle/>
                    <a:p>
                      <a:pPr>
                        <a:defRPr sz="2000" b="1">
                          <a:solidFill>
                            <a:srgbClr val="FFFFFF"/>
                          </a:solidFill>
                          <a:latin typeface="Times New Roman"/>
                        </a:defRPr>
                      </a:pPr>
                      <a:r>
                        <a:t>Description</a:t>
                      </a:r>
                    </a:p>
                  </a:txBody>
                  <a:tcPr>
                    <a:solidFill>
                      <a:srgbClr val="1E3A5F"/>
                    </a:solidFill>
                  </a:tcPr>
                </a:tc>
              </a:tr>
              <a:tr h="376517">
                <a:tc>
                  <a:txBody>
                    <a:bodyPr/>
                    <a:lstStyle/>
                    <a:p>
                      <a:pPr>
                        <a:defRPr sz="1800">
                          <a:solidFill>
                            <a:srgbClr val="251C23"/>
                          </a:solidFill>
                          <a:latin typeface="Times New Roman"/>
                        </a:defRPr>
                      </a:pPr>
                      <a:r>
                        <a:t>POST</a:t>
                      </a:r>
                    </a:p>
                  </a:txBody>
                  <a:tcPr/>
                </a:tc>
                <a:tc>
                  <a:txBody>
                    <a:bodyPr/>
                    <a:lstStyle/>
                    <a:p>
                      <a:pPr>
                        <a:defRPr sz="1800">
                          <a:solidFill>
                            <a:srgbClr val="251C23"/>
                          </a:solidFill>
                          <a:latin typeface="Times New Roman"/>
                        </a:defRPr>
                      </a:pPr>
                      <a:r>
                        <a:t>/api/auth/register</a:t>
                      </a:r>
                    </a:p>
                  </a:txBody>
                  <a:tcPr/>
                </a:tc>
                <a:tc>
                  <a:txBody>
                    <a:bodyPr/>
                    <a:lstStyle/>
                    <a:p>
                      <a:pPr>
                        <a:defRPr sz="1800">
                          <a:solidFill>
                            <a:srgbClr val="251C23"/>
                          </a:solidFill>
                          <a:latin typeface="Times New Roman"/>
                        </a:defRPr>
                      </a:pPr>
                      <a:r>
                        <a:t>Register new user</a:t>
                      </a:r>
                    </a:p>
                  </a:txBody>
                  <a:tcPr/>
                </a:tc>
              </a:tr>
              <a:tr h="376517">
                <a:tc>
                  <a:txBody>
                    <a:bodyPr/>
                    <a:lstStyle/>
                    <a:p>
                      <a:pPr>
                        <a:defRPr sz="1800">
                          <a:solidFill>
                            <a:srgbClr val="251C23"/>
                          </a:solidFill>
                          <a:latin typeface="Times New Roman"/>
                        </a:defRPr>
                      </a:pPr>
                      <a:r>
                        <a:t>POST</a:t>
                      </a:r>
                    </a:p>
                  </a:txBody>
                  <a:tcPr>
                    <a:solidFill>
                      <a:srgbClr val="F0F0F0"/>
                    </a:solidFill>
                  </a:tcPr>
                </a:tc>
                <a:tc>
                  <a:txBody>
                    <a:bodyPr/>
                    <a:lstStyle/>
                    <a:p>
                      <a:pPr>
                        <a:defRPr sz="1800">
                          <a:solidFill>
                            <a:srgbClr val="251C23"/>
                          </a:solidFill>
                          <a:latin typeface="Times New Roman"/>
                        </a:defRPr>
                      </a:pPr>
                      <a:r>
                        <a:t>/api/auth/login</a:t>
                      </a:r>
                    </a:p>
                  </a:txBody>
                  <a:tcPr>
                    <a:solidFill>
                      <a:srgbClr val="F0F0F0"/>
                    </a:solidFill>
                  </a:tcPr>
                </a:tc>
                <a:tc>
                  <a:txBody>
                    <a:bodyPr/>
                    <a:lstStyle/>
                    <a:p>
                      <a:pPr>
                        <a:defRPr sz="1800">
                          <a:solidFill>
                            <a:srgbClr val="251C23"/>
                          </a:solidFill>
                          <a:latin typeface="Times New Roman"/>
                        </a:defRPr>
                      </a:pPr>
                      <a:r>
                        <a:t>Login &amp; get JWT token</a:t>
                      </a:r>
                    </a:p>
                  </a:txBody>
                  <a:tcPr>
                    <a:solidFill>
                      <a:srgbClr val="F0F0F0"/>
                    </a:solidFill>
                  </a:tcPr>
                </a:tc>
              </a:tr>
              <a:tr h="376517">
                <a:tc>
                  <a:txBody>
                    <a:bodyPr/>
                    <a:lstStyle/>
                    <a:p>
                      <a:pPr>
                        <a:defRPr sz="1800">
                          <a:solidFill>
                            <a:srgbClr val="251C23"/>
                          </a:solidFill>
                          <a:latin typeface="Times New Roman"/>
                        </a:defRPr>
                      </a:pPr>
                      <a:r>
                        <a:t>POST</a:t>
                      </a:r>
                    </a:p>
                  </a:txBody>
                  <a:tcPr/>
                </a:tc>
                <a:tc>
                  <a:txBody>
                    <a:bodyPr/>
                    <a:lstStyle/>
                    <a:p>
                      <a:pPr>
                        <a:defRPr sz="1800">
                          <a:solidFill>
                            <a:srgbClr val="251C23"/>
                          </a:solidFill>
                          <a:latin typeface="Times New Roman"/>
                        </a:defRPr>
                      </a:pPr>
                      <a:r>
                        <a:t>/api/auth/forgotpassword</a:t>
                      </a:r>
                    </a:p>
                  </a:txBody>
                  <a:tcPr/>
                </a:tc>
                <a:tc>
                  <a:txBody>
                    <a:bodyPr/>
                    <a:lstStyle/>
                    <a:p>
                      <a:pPr>
                        <a:defRPr sz="1800">
                          <a:solidFill>
                            <a:srgbClr val="251C23"/>
                          </a:solidFill>
                          <a:latin typeface="Times New Roman"/>
                        </a:defRPr>
                      </a:pPr>
                      <a:r>
                        <a:t>Send OTP to email</a:t>
                      </a:r>
                    </a:p>
                  </a:txBody>
                  <a:tcPr/>
                </a:tc>
              </a:tr>
              <a:tr h="376517">
                <a:tc>
                  <a:txBody>
                    <a:bodyPr/>
                    <a:lstStyle/>
                    <a:p>
                      <a:pPr>
                        <a:defRPr sz="1800">
                          <a:solidFill>
                            <a:srgbClr val="251C23"/>
                          </a:solidFill>
                          <a:latin typeface="Times New Roman"/>
                        </a:defRPr>
                      </a:pPr>
                      <a:r>
                        <a:t>POST</a:t>
                      </a:r>
                    </a:p>
                  </a:txBody>
                  <a:tcPr>
                    <a:solidFill>
                      <a:srgbClr val="F0F0F0"/>
                    </a:solidFill>
                  </a:tcPr>
                </a:tc>
                <a:tc>
                  <a:txBody>
                    <a:bodyPr/>
                    <a:lstStyle/>
                    <a:p>
                      <a:pPr>
                        <a:defRPr sz="1800">
                          <a:solidFill>
                            <a:srgbClr val="251C23"/>
                          </a:solidFill>
                          <a:latin typeface="Times New Roman"/>
                        </a:defRPr>
                      </a:pPr>
                      <a:r>
                        <a:t>/api/auth/verifyotp</a:t>
                      </a:r>
                    </a:p>
                  </a:txBody>
                  <a:tcPr>
                    <a:solidFill>
                      <a:srgbClr val="F0F0F0"/>
                    </a:solidFill>
                  </a:tcPr>
                </a:tc>
                <a:tc>
                  <a:txBody>
                    <a:bodyPr/>
                    <a:lstStyle/>
                    <a:p>
                      <a:pPr>
                        <a:defRPr sz="1800">
                          <a:solidFill>
                            <a:srgbClr val="251C23"/>
                          </a:solidFill>
                          <a:latin typeface="Times New Roman"/>
                        </a:defRPr>
                      </a:pPr>
                      <a:r>
                        <a:t>Verify 6-digit OTP</a:t>
                      </a:r>
                    </a:p>
                  </a:txBody>
                  <a:tcPr>
                    <a:solidFill>
                      <a:srgbClr val="F0F0F0"/>
                    </a:solidFill>
                  </a:tcPr>
                </a:tc>
              </a:tr>
              <a:tr h="376517">
                <a:tc>
                  <a:txBody>
                    <a:bodyPr/>
                    <a:lstStyle/>
                    <a:p>
                      <a:pPr>
                        <a:defRPr sz="1800">
                          <a:solidFill>
                            <a:srgbClr val="251C23"/>
                          </a:solidFill>
                          <a:latin typeface="Times New Roman"/>
                        </a:defRPr>
                      </a:pPr>
                      <a:r>
                        <a:t>PUT</a:t>
                      </a:r>
                    </a:p>
                  </a:txBody>
                  <a:tcPr/>
                </a:tc>
                <a:tc>
                  <a:txBody>
                    <a:bodyPr/>
                    <a:lstStyle/>
                    <a:p>
                      <a:pPr>
                        <a:defRPr sz="1800">
                          <a:solidFill>
                            <a:srgbClr val="251C23"/>
                          </a:solidFill>
                          <a:latin typeface="Times New Roman"/>
                        </a:defRPr>
                      </a:pPr>
                      <a:r>
                        <a:t>/api/auth/resetpassword/:token</a:t>
                      </a:r>
                    </a:p>
                  </a:txBody>
                  <a:tcPr/>
                </a:tc>
                <a:tc>
                  <a:txBody>
                    <a:bodyPr/>
                    <a:lstStyle/>
                    <a:p>
                      <a:pPr>
                        <a:defRPr sz="1800">
                          <a:solidFill>
                            <a:srgbClr val="251C23"/>
                          </a:solidFill>
                          <a:latin typeface="Times New Roman"/>
                        </a:defRPr>
                      </a:pPr>
                      <a:r>
                        <a:t>Reset password with token</a:t>
                      </a:r>
                    </a:p>
                  </a:txBody>
                  <a:tcPr/>
                </a:tc>
              </a:tr>
              <a:tr h="376517">
                <a:tc>
                  <a:txBody>
                    <a:bodyPr/>
                    <a:lstStyle/>
                    <a:p>
                      <a:pPr>
                        <a:defRPr sz="1800">
                          <a:solidFill>
                            <a:srgbClr val="251C23"/>
                          </a:solidFill>
                          <a:latin typeface="Times New Roman"/>
                        </a:defRPr>
                      </a:pPr>
                      <a:r>
                        <a:t>GET</a:t>
                      </a:r>
                    </a:p>
                  </a:txBody>
                  <a:tcPr>
                    <a:solidFill>
                      <a:srgbClr val="F0F0F0"/>
                    </a:solidFill>
                  </a:tcPr>
                </a:tc>
                <a:tc>
                  <a:txBody>
                    <a:bodyPr/>
                    <a:lstStyle/>
                    <a:p>
                      <a:pPr>
                        <a:defRPr sz="1800">
                          <a:solidFill>
                            <a:srgbClr val="251C23"/>
                          </a:solidFill>
                          <a:latin typeface="Times New Roman"/>
                        </a:defRPr>
                      </a:pPr>
                      <a:r>
                        <a:t>/api/auth/me</a:t>
                      </a:r>
                    </a:p>
                  </a:txBody>
                  <a:tcPr>
                    <a:solidFill>
                      <a:srgbClr val="F0F0F0"/>
                    </a:solidFill>
                  </a:tcPr>
                </a:tc>
                <a:tc>
                  <a:txBody>
                    <a:bodyPr/>
                    <a:lstStyle/>
                    <a:p>
                      <a:pPr>
                        <a:defRPr sz="1800">
                          <a:solidFill>
                            <a:srgbClr val="251C23"/>
                          </a:solidFill>
                          <a:latin typeface="Times New Roman"/>
                        </a:defRPr>
                      </a:pPr>
                      <a:r>
                        <a:t>Get current user (protected)</a:t>
                      </a:r>
                    </a:p>
                  </a:txBody>
                  <a:tcPr>
                    <a:solidFill>
                      <a:srgbClr val="F0F0F0"/>
                    </a:solidFill>
                  </a:tcPr>
                </a:tc>
              </a:tr>
              <a:tr h="376517">
                <a:tc>
                  <a:txBody>
                    <a:bodyPr/>
                    <a:lstStyle/>
                    <a:p>
                      <a:pPr>
                        <a:defRPr sz="1800">
                          <a:solidFill>
                            <a:srgbClr val="251C23"/>
                          </a:solidFill>
                          <a:latin typeface="Times New Roman"/>
                        </a:defRPr>
                      </a:pPr>
                      <a:r>
                        <a:t>GET</a:t>
                      </a:r>
                    </a:p>
                  </a:txBody>
                  <a:tcPr/>
                </a:tc>
                <a:tc>
                  <a:txBody>
                    <a:bodyPr/>
                    <a:lstStyle/>
                    <a:p>
                      <a:pPr>
                        <a:defRPr sz="1800">
                          <a:solidFill>
                            <a:srgbClr val="251C23"/>
                          </a:solidFill>
                          <a:latin typeface="Times New Roman"/>
                        </a:defRPr>
                      </a:pPr>
                      <a:r>
                        <a:t>/api/projects</a:t>
                      </a:r>
                    </a:p>
                  </a:txBody>
                  <a:tcPr/>
                </a:tc>
                <a:tc>
                  <a:txBody>
                    <a:bodyPr/>
                    <a:lstStyle/>
                    <a:p>
                      <a:pPr>
                        <a:defRPr sz="1800">
                          <a:solidFill>
                            <a:srgbClr val="251C23"/>
                          </a:solidFill>
                          <a:latin typeface="Times New Roman"/>
                        </a:defRPr>
                      </a:pPr>
                      <a:r>
                        <a:t>List all projects</a:t>
                      </a:r>
                    </a:p>
                  </a:txBody>
                  <a:tcPr/>
                </a:tc>
              </a:tr>
              <a:tr h="376517">
                <a:tc>
                  <a:txBody>
                    <a:bodyPr/>
                    <a:lstStyle/>
                    <a:p>
                      <a:pPr>
                        <a:defRPr sz="1800">
                          <a:solidFill>
                            <a:srgbClr val="251C23"/>
                          </a:solidFill>
                          <a:latin typeface="Times New Roman"/>
                        </a:defRPr>
                      </a:pPr>
                      <a:r>
                        <a:t>POST</a:t>
                      </a:r>
                    </a:p>
                  </a:txBody>
                  <a:tcPr>
                    <a:solidFill>
                      <a:srgbClr val="F0F0F0"/>
                    </a:solidFill>
                  </a:tcPr>
                </a:tc>
                <a:tc>
                  <a:txBody>
                    <a:bodyPr/>
                    <a:lstStyle/>
                    <a:p>
                      <a:pPr>
                        <a:defRPr sz="1800">
                          <a:solidFill>
                            <a:srgbClr val="251C23"/>
                          </a:solidFill>
                          <a:latin typeface="Times New Roman"/>
                        </a:defRPr>
                      </a:pPr>
                      <a:r>
                        <a:t>/api/projects</a:t>
                      </a:r>
                    </a:p>
                  </a:txBody>
                  <a:tcPr>
                    <a:solidFill>
                      <a:srgbClr val="F0F0F0"/>
                    </a:solidFill>
                  </a:tcPr>
                </a:tc>
                <a:tc>
                  <a:txBody>
                    <a:bodyPr/>
                    <a:lstStyle/>
                    <a:p>
                      <a:pPr>
                        <a:defRPr sz="1800">
                          <a:solidFill>
                            <a:srgbClr val="251C23"/>
                          </a:solidFill>
                          <a:latin typeface="Times New Roman"/>
                        </a:defRPr>
                      </a:pPr>
                      <a:r>
                        <a:t>Create project</a:t>
                      </a:r>
                    </a:p>
                  </a:txBody>
                  <a:tcPr>
                    <a:solidFill>
                      <a:srgbClr val="F0F0F0"/>
                    </a:solidFill>
                  </a:tcPr>
                </a:tc>
              </a:tr>
              <a:tr h="376517">
                <a:tc>
                  <a:txBody>
                    <a:bodyPr/>
                    <a:lstStyle/>
                    <a:p>
                      <a:pPr>
                        <a:defRPr sz="1800">
                          <a:solidFill>
                            <a:srgbClr val="251C23"/>
                          </a:solidFill>
                          <a:latin typeface="Times New Roman"/>
                        </a:defRPr>
                      </a:pPr>
                      <a:r>
                        <a:t>PUT</a:t>
                      </a:r>
                    </a:p>
                  </a:txBody>
                  <a:tcPr/>
                </a:tc>
                <a:tc>
                  <a:txBody>
                    <a:bodyPr/>
                    <a:lstStyle/>
                    <a:p>
                      <a:pPr>
                        <a:defRPr sz="1800">
                          <a:solidFill>
                            <a:srgbClr val="251C23"/>
                          </a:solidFill>
                          <a:latin typeface="Times New Roman"/>
                        </a:defRPr>
                      </a:pPr>
                      <a:r>
                        <a:t>/api/projects/:id</a:t>
                      </a:r>
                    </a:p>
                  </a:txBody>
                  <a:tcPr/>
                </a:tc>
                <a:tc>
                  <a:txBody>
                    <a:bodyPr/>
                    <a:lstStyle/>
                    <a:p>
                      <a:pPr>
                        <a:defRPr sz="1800">
                          <a:solidFill>
                            <a:srgbClr val="251C23"/>
                          </a:solidFill>
                          <a:latin typeface="Times New Roman"/>
                        </a:defRPr>
                      </a:pPr>
                      <a:r>
                        <a:t>Update project</a:t>
                      </a:r>
                    </a:p>
                  </a:txBody>
                  <a:tcPr/>
                </a:tc>
              </a:tr>
              <a:tr h="376517">
                <a:tc>
                  <a:txBody>
                    <a:bodyPr/>
                    <a:lstStyle/>
                    <a:p>
                      <a:pPr>
                        <a:defRPr sz="1800">
                          <a:solidFill>
                            <a:srgbClr val="251C23"/>
                          </a:solidFill>
                          <a:latin typeface="Times New Roman"/>
                        </a:defRPr>
                      </a:pPr>
                      <a:r>
                        <a:t>DELETE</a:t>
                      </a:r>
                    </a:p>
                  </a:txBody>
                  <a:tcPr>
                    <a:solidFill>
                      <a:srgbClr val="F0F0F0"/>
                    </a:solidFill>
                  </a:tcPr>
                </a:tc>
                <a:tc>
                  <a:txBody>
                    <a:bodyPr/>
                    <a:lstStyle/>
                    <a:p>
                      <a:pPr>
                        <a:defRPr sz="1800">
                          <a:solidFill>
                            <a:srgbClr val="251C23"/>
                          </a:solidFill>
                          <a:latin typeface="Times New Roman"/>
                        </a:defRPr>
                      </a:pPr>
                      <a:r>
                        <a:t>/api/projects/:id</a:t>
                      </a:r>
                    </a:p>
                  </a:txBody>
                  <a:tcPr>
                    <a:solidFill>
                      <a:srgbClr val="F0F0F0"/>
                    </a:solidFill>
                  </a:tcPr>
                </a:tc>
                <a:tc>
                  <a:txBody>
                    <a:bodyPr/>
                    <a:lstStyle/>
                    <a:p>
                      <a:pPr>
                        <a:defRPr sz="1800">
                          <a:solidFill>
                            <a:srgbClr val="251C23"/>
                          </a:solidFill>
                          <a:latin typeface="Times New Roman"/>
                        </a:defRPr>
                      </a:pPr>
                      <a:r>
                        <a:t>Delete project</a:t>
                      </a:r>
                    </a:p>
                  </a:txBody>
                  <a:tcPr>
                    <a:solidFill>
                      <a:srgbClr val="F0F0F0"/>
                    </a:solidFill>
                  </a:tcPr>
                </a:tc>
              </a:tr>
              <a:tr h="376517">
                <a:tc>
                  <a:txBody>
                    <a:bodyPr/>
                    <a:lstStyle/>
                    <a:p>
                      <a:pPr>
                        <a:defRPr sz="1800">
                          <a:solidFill>
                            <a:srgbClr val="251C23"/>
                          </a:solidFill>
                          <a:latin typeface="Times New Roman"/>
                        </a:defRPr>
                      </a:pPr>
                      <a:r>
                        <a:t>GET</a:t>
                      </a:r>
                    </a:p>
                  </a:txBody>
                  <a:tcPr/>
                </a:tc>
                <a:tc>
                  <a:txBody>
                    <a:bodyPr/>
                    <a:lstStyle/>
                    <a:p>
                      <a:pPr>
                        <a:defRPr sz="1800">
                          <a:solidFill>
                            <a:srgbClr val="251C23"/>
                          </a:solidFill>
                          <a:latin typeface="Times New Roman"/>
                        </a:defRPr>
                      </a:pPr>
                      <a:r>
                        <a:t>/api/tasks/all</a:t>
                      </a:r>
                    </a:p>
                  </a:txBody>
                  <a:tcPr/>
                </a:tc>
                <a:tc>
                  <a:txBody>
                    <a:bodyPr/>
                    <a:lstStyle/>
                    <a:p>
                      <a:pPr>
                        <a:defRPr sz="1800">
                          <a:solidFill>
                            <a:srgbClr val="251C23"/>
                          </a:solidFill>
                          <a:latin typeface="Times New Roman"/>
                        </a:defRPr>
                      </a:pPr>
                      <a:r>
                        <a:t>Get all tasks</a:t>
                      </a:r>
                    </a:p>
                  </a:txBody>
                  <a:tcPr/>
                </a:tc>
              </a:tr>
              <a:tr h="376517">
                <a:tc>
                  <a:txBody>
                    <a:bodyPr/>
                    <a:lstStyle/>
                    <a:p>
                      <a:pPr>
                        <a:defRPr sz="1800">
                          <a:solidFill>
                            <a:srgbClr val="251C23"/>
                          </a:solidFill>
                          <a:latin typeface="Times New Roman"/>
                        </a:defRPr>
                      </a:pPr>
                      <a:r>
                        <a:t>POST</a:t>
                      </a:r>
                    </a:p>
                  </a:txBody>
                  <a:tcPr>
                    <a:solidFill>
                      <a:srgbClr val="F0F0F0"/>
                    </a:solidFill>
                  </a:tcPr>
                </a:tc>
                <a:tc>
                  <a:txBody>
                    <a:bodyPr/>
                    <a:lstStyle/>
                    <a:p>
                      <a:pPr>
                        <a:defRPr sz="1800">
                          <a:solidFill>
                            <a:srgbClr val="251C23"/>
                          </a:solidFill>
                          <a:latin typeface="Times New Roman"/>
                        </a:defRPr>
                      </a:pPr>
                      <a:r>
                        <a:t>/api/tasks</a:t>
                      </a:r>
                    </a:p>
                  </a:txBody>
                  <a:tcPr>
                    <a:solidFill>
                      <a:srgbClr val="F0F0F0"/>
                    </a:solidFill>
                  </a:tcPr>
                </a:tc>
                <a:tc>
                  <a:txBody>
                    <a:bodyPr/>
                    <a:lstStyle/>
                    <a:p>
                      <a:pPr>
                        <a:defRPr sz="1800">
                          <a:solidFill>
                            <a:srgbClr val="251C23"/>
                          </a:solidFill>
                          <a:latin typeface="Times New Roman"/>
                        </a:defRPr>
                      </a:pPr>
                      <a:r>
                        <a:t>Create task</a:t>
                      </a:r>
                    </a:p>
                  </a:txBody>
                  <a:tcPr>
                    <a:solidFill>
                      <a:srgbClr val="F0F0F0"/>
                    </a:solidFill>
                  </a:tcPr>
                </a:tc>
              </a:tr>
              <a:tr h="376517">
                <a:tc>
                  <a:txBody>
                    <a:bodyPr/>
                    <a:lstStyle/>
                    <a:p>
                      <a:pPr>
                        <a:defRPr sz="1800">
                          <a:solidFill>
                            <a:srgbClr val="251C23"/>
                          </a:solidFill>
                          <a:latin typeface="Times New Roman"/>
                        </a:defRPr>
                      </a:pPr>
                      <a:r>
                        <a:t>PUT</a:t>
                      </a:r>
                    </a:p>
                  </a:txBody>
                  <a:tcPr/>
                </a:tc>
                <a:tc>
                  <a:txBody>
                    <a:bodyPr/>
                    <a:lstStyle/>
                    <a:p>
                      <a:pPr>
                        <a:defRPr sz="1800">
                          <a:solidFill>
                            <a:srgbClr val="251C23"/>
                          </a:solidFill>
                          <a:latin typeface="Times New Roman"/>
                        </a:defRPr>
                      </a:pPr>
                      <a:r>
                        <a:t>/api/tasks/:id</a:t>
                      </a:r>
                    </a:p>
                  </a:txBody>
                  <a:tcPr/>
                </a:tc>
                <a:tc>
                  <a:txBody>
                    <a:bodyPr/>
                    <a:lstStyle/>
                    <a:p>
                      <a:pPr>
                        <a:defRPr sz="1800">
                          <a:solidFill>
                            <a:srgbClr val="251C23"/>
                          </a:solidFill>
                          <a:latin typeface="Times New Roman"/>
                        </a:defRPr>
                      </a:pPr>
                      <a:r>
                        <a:t>Update task</a:t>
                      </a:r>
                    </a:p>
                  </a:txBody>
                  <a:tcPr/>
                </a:tc>
              </a:tr>
              <a:tr h="376517">
                <a:tc>
                  <a:txBody>
                    <a:bodyPr/>
                    <a:lstStyle/>
                    <a:p>
                      <a:pPr>
                        <a:defRPr sz="1800">
                          <a:solidFill>
                            <a:srgbClr val="251C23"/>
                          </a:solidFill>
                          <a:latin typeface="Times New Roman"/>
                        </a:defRPr>
                      </a:pPr>
                      <a:r>
                        <a:t>GET</a:t>
                      </a:r>
                    </a:p>
                  </a:txBody>
                  <a:tcPr>
                    <a:solidFill>
                      <a:srgbClr val="F0F0F0"/>
                    </a:solidFill>
                  </a:tcPr>
                </a:tc>
                <a:tc>
                  <a:txBody>
                    <a:bodyPr/>
                    <a:lstStyle/>
                    <a:p>
                      <a:pPr>
                        <a:defRPr sz="1800">
                          <a:solidFill>
                            <a:srgbClr val="251C23"/>
                          </a:solidFill>
                          <a:latin typeface="Times New Roman"/>
                        </a:defRPr>
                      </a:pPr>
                      <a:r>
                        <a:t>/api/tasks/gantt/:id</a:t>
                      </a:r>
                    </a:p>
                  </a:txBody>
                  <a:tcPr>
                    <a:solidFill>
                      <a:srgbClr val="F0F0F0"/>
                    </a:solidFill>
                  </a:tcPr>
                </a:tc>
                <a:tc>
                  <a:txBody>
                    <a:bodyPr/>
                    <a:lstStyle/>
                    <a:p>
                      <a:pPr>
                        <a:defRPr sz="1800">
                          <a:solidFill>
                            <a:srgbClr val="251C23"/>
                          </a:solidFill>
                          <a:latin typeface="Times New Roman"/>
                        </a:defRPr>
                      </a:pPr>
                      <a:r>
                        <a:t>Get Gantt chart data</a:t>
                      </a:r>
                    </a:p>
                  </a:txBody>
                  <a:tcPr>
                    <a:solidFill>
                      <a:srgbClr val="F0F0F0"/>
                    </a:solidFill>
                  </a:tcPr>
                </a:tc>
              </a:tr>
              <a:tr h="376517">
                <a:tc>
                  <a:txBody>
                    <a:bodyPr/>
                    <a:lstStyle/>
                    <a:p>
                      <a:pPr>
                        <a:defRPr sz="1800">
                          <a:solidFill>
                            <a:srgbClr val="251C23"/>
                          </a:solidFill>
                          <a:latin typeface="Times New Roman"/>
                        </a:defRPr>
                      </a:pPr>
                      <a:r>
                        <a:t>GET</a:t>
                      </a:r>
                    </a:p>
                  </a:txBody>
                  <a:tcPr/>
                </a:tc>
                <a:tc>
                  <a:txBody>
                    <a:bodyPr/>
                    <a:lstStyle/>
                    <a:p>
                      <a:pPr>
                        <a:defRPr sz="1800">
                          <a:solidFill>
                            <a:srgbClr val="251C23"/>
                          </a:solidFill>
                          <a:latin typeface="Times New Roman"/>
                        </a:defRPr>
                      </a:pPr>
                      <a:r>
                        <a:t>/api/resources</a:t>
                      </a:r>
                    </a:p>
                  </a:txBody>
                  <a:tcPr/>
                </a:tc>
                <a:tc>
                  <a:txBody>
                    <a:bodyPr/>
                    <a:lstStyle/>
                    <a:p>
                      <a:pPr>
                        <a:defRPr sz="1800">
                          <a:solidFill>
                            <a:srgbClr val="251C23"/>
                          </a:solidFill>
                          <a:latin typeface="Times New Roman"/>
                        </a:defRPr>
                      </a:pPr>
                      <a:r>
                        <a:t>List all resources</a:t>
                      </a:r>
                    </a:p>
                  </a:txBody>
                  <a:tcPr/>
                </a:tc>
              </a:tr>
              <a:tr h="376528">
                <a:tc>
                  <a:txBody>
                    <a:bodyPr/>
                    <a:lstStyle/>
                    <a:p>
                      <a:pPr>
                        <a:defRPr sz="1800">
                          <a:solidFill>
                            <a:srgbClr val="251C23"/>
                          </a:solidFill>
                          <a:latin typeface="Times New Roman"/>
                        </a:defRPr>
                      </a:pPr>
                      <a:r>
                        <a:t>GET</a:t>
                      </a:r>
                    </a:p>
                  </a:txBody>
                  <a:tcPr>
                    <a:solidFill>
                      <a:srgbClr val="F0F0F0"/>
                    </a:solidFill>
                  </a:tcPr>
                </a:tc>
                <a:tc>
                  <a:txBody>
                    <a:bodyPr/>
                    <a:lstStyle/>
                    <a:p>
                      <a:pPr>
                        <a:defRPr sz="1800">
                          <a:solidFill>
                            <a:srgbClr val="251C23"/>
                          </a:solidFill>
                          <a:latin typeface="Times New Roman"/>
                        </a:defRPr>
                      </a:pPr>
                      <a:r>
                        <a:t>/api/dashboard/overview</a:t>
                      </a:r>
                    </a:p>
                  </a:txBody>
                  <a:tcPr>
                    <a:solidFill>
                      <a:srgbClr val="F0F0F0"/>
                    </a:solidFill>
                  </a:tcPr>
                </a:tc>
                <a:tc>
                  <a:txBody>
                    <a:bodyPr/>
                    <a:lstStyle/>
                    <a:p>
                      <a:pPr>
                        <a:defRPr sz="1800">
                          <a:solidFill>
                            <a:srgbClr val="251C23"/>
                          </a:solidFill>
                          <a:latin typeface="Times New Roman"/>
                        </a:defRPr>
                      </a:pPr>
                      <a:r>
                        <a:t>Dashboard statistics</a:t>
                      </a:r>
                    </a:p>
                  </a:txBody>
                  <a:tcPr>
                    <a:solidFill>
                      <a:srgbClr val="F0F0F0"/>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TECHNOLOGY STACK</a:t>
            </a:r>
          </a:p>
        </p:txBody>
      </p:sp>
      <p:sp>
        <p:nvSpPr>
          <p:cNvPr id="3" name="TextBox 2"/>
          <p:cNvSpPr txBox="1"/>
          <p:nvPr/>
        </p:nvSpPr>
        <p:spPr>
          <a:xfrm>
            <a:off x="457200" y="1645920"/>
            <a:ext cx="7315200" cy="365760"/>
          </a:xfrm>
          <a:prstGeom prst="rect">
            <a:avLst/>
          </a:prstGeom>
          <a:noFill/>
        </p:spPr>
        <p:txBody>
          <a:bodyPr wrap="square">
            <a:spAutoFit/>
          </a:bodyPr>
          <a:lstStyle/>
          <a:p>
            <a:pPr algn="l"/>
            <a:r>
              <a:rPr sz="2400" b="1">
                <a:solidFill>
                  <a:srgbClr val="1E3A5F"/>
                </a:solidFill>
                <a:latin typeface="Times New Roman"/>
              </a:rPr>
              <a:t>Frontend</a:t>
            </a:r>
          </a:p>
        </p:txBody>
      </p:sp>
      <p:graphicFrame>
        <p:nvGraphicFramePr>
          <p:cNvPr id="4" name="Table 3"/>
          <p:cNvGraphicFramePr>
            <a:graphicFrameLocks noGrp="1"/>
          </p:cNvGraphicFramePr>
          <p:nvPr/>
        </p:nvGraphicFramePr>
        <p:xfrm>
          <a:off x="457200" y="2103120"/>
          <a:ext cx="7772400" cy="2743200"/>
        </p:xfrm>
        <a:graphic>
          <a:graphicData uri="http://schemas.openxmlformats.org/drawingml/2006/table">
            <a:tbl>
              <a:tblPr firstRow="1" bandRow="1">
                <a:tableStyleId>{5C22544A-7EE6-4342-B048-85BDC9FD1C3A}</a:tableStyleId>
              </a:tblPr>
              <a:tblGrid>
                <a:gridCol w="2743200"/>
                <a:gridCol w="5029200"/>
              </a:tblGrid>
              <a:tr h="342900">
                <a:tc>
                  <a:txBody>
                    <a:bodyPr/>
                    <a:lstStyle/>
                    <a:p>
                      <a:pPr>
                        <a:defRPr sz="2000" b="1">
                          <a:solidFill>
                            <a:srgbClr val="FFFFFF"/>
                          </a:solidFill>
                          <a:latin typeface="Times New Roman"/>
                        </a:defRPr>
                      </a:pPr>
                      <a:r>
                        <a:t>Technology</a:t>
                      </a:r>
                    </a:p>
                  </a:txBody>
                  <a:tcPr>
                    <a:solidFill>
                      <a:srgbClr val="1E3A5F"/>
                    </a:solidFill>
                  </a:tcPr>
                </a:tc>
                <a:tc>
                  <a:txBody>
                    <a:bodyPr/>
                    <a:lstStyle/>
                    <a:p>
                      <a:pPr>
                        <a:defRPr sz="2000" b="1">
                          <a:solidFill>
                            <a:srgbClr val="FFFFFF"/>
                          </a:solidFill>
                          <a:latin typeface="Times New Roman"/>
                        </a:defRPr>
                      </a:pPr>
                      <a:r>
                        <a:t>Purpose</a:t>
                      </a:r>
                    </a:p>
                  </a:txBody>
                  <a:tcPr>
                    <a:solidFill>
                      <a:srgbClr val="1E3A5F"/>
                    </a:solidFill>
                  </a:tcPr>
                </a:tc>
              </a:tr>
              <a:tr h="342900">
                <a:tc>
                  <a:txBody>
                    <a:bodyPr/>
                    <a:lstStyle/>
                    <a:p>
                      <a:pPr>
                        <a:defRPr sz="1800">
                          <a:solidFill>
                            <a:srgbClr val="251C23"/>
                          </a:solidFill>
                          <a:latin typeface="Times New Roman"/>
                        </a:defRPr>
                      </a:pPr>
                      <a:r>
                        <a:t>React.js 18</a:t>
                      </a:r>
                    </a:p>
                  </a:txBody>
                  <a:tcPr/>
                </a:tc>
                <a:tc>
                  <a:txBody>
                    <a:bodyPr/>
                    <a:lstStyle/>
                    <a:p>
                      <a:pPr>
                        <a:defRPr sz="1800">
                          <a:solidFill>
                            <a:srgbClr val="251C23"/>
                          </a:solidFill>
                          <a:latin typeface="Times New Roman"/>
                        </a:defRPr>
                      </a:pPr>
                      <a:r>
                        <a:t>UI framework with hooks &amp; context</a:t>
                      </a:r>
                    </a:p>
                  </a:txBody>
                  <a:tcPr/>
                </a:tc>
              </a:tr>
              <a:tr h="342900">
                <a:tc>
                  <a:txBody>
                    <a:bodyPr/>
                    <a:lstStyle/>
                    <a:p>
                      <a:pPr>
                        <a:defRPr sz="1800">
                          <a:solidFill>
                            <a:srgbClr val="251C23"/>
                          </a:solidFill>
                          <a:latin typeface="Times New Roman"/>
                        </a:defRPr>
                      </a:pPr>
                      <a:r>
                        <a:t>React Router v6</a:t>
                      </a:r>
                    </a:p>
                  </a:txBody>
                  <a:tcPr>
                    <a:solidFill>
                      <a:srgbClr val="F0F0F0"/>
                    </a:solidFill>
                  </a:tcPr>
                </a:tc>
                <a:tc>
                  <a:txBody>
                    <a:bodyPr/>
                    <a:lstStyle/>
                    <a:p>
                      <a:pPr>
                        <a:defRPr sz="1800">
                          <a:solidFill>
                            <a:srgbClr val="251C23"/>
                          </a:solidFill>
                          <a:latin typeface="Times New Roman"/>
                        </a:defRPr>
                      </a:pPr>
                      <a:r>
                        <a:t>Client-side routing</a:t>
                      </a:r>
                    </a:p>
                  </a:txBody>
                  <a:tcPr>
                    <a:solidFill>
                      <a:srgbClr val="F0F0F0"/>
                    </a:solidFill>
                  </a:tcPr>
                </a:tc>
              </a:tr>
              <a:tr h="342900">
                <a:tc>
                  <a:txBody>
                    <a:bodyPr/>
                    <a:lstStyle/>
                    <a:p>
                      <a:pPr>
                        <a:defRPr sz="1800">
                          <a:solidFill>
                            <a:srgbClr val="251C23"/>
                          </a:solidFill>
                          <a:latin typeface="Times New Roman"/>
                        </a:defRPr>
                      </a:pPr>
                      <a:r>
                        <a:t>Chart.js</a:t>
                      </a:r>
                    </a:p>
                  </a:txBody>
                  <a:tcPr/>
                </a:tc>
                <a:tc>
                  <a:txBody>
                    <a:bodyPr/>
                    <a:lstStyle/>
                    <a:p>
                      <a:pPr>
                        <a:defRPr sz="1800">
                          <a:solidFill>
                            <a:srgbClr val="251C23"/>
                          </a:solidFill>
                          <a:latin typeface="Times New Roman"/>
                        </a:defRPr>
                      </a:pPr>
                      <a:r>
                        <a:t>Doughnut, bar &amp; line charts</a:t>
                      </a:r>
                    </a:p>
                  </a:txBody>
                  <a:tcPr/>
                </a:tc>
              </a:tr>
              <a:tr h="342900">
                <a:tc>
                  <a:txBody>
                    <a:bodyPr/>
                    <a:lstStyle/>
                    <a:p>
                      <a:pPr>
                        <a:defRPr sz="1800">
                          <a:solidFill>
                            <a:srgbClr val="251C23"/>
                          </a:solidFill>
                          <a:latin typeface="Times New Roman"/>
                        </a:defRPr>
                      </a:pPr>
                      <a:r>
                        <a:t>dhtmlx-gantt</a:t>
                      </a:r>
                    </a:p>
                  </a:txBody>
                  <a:tcPr>
                    <a:solidFill>
                      <a:srgbClr val="F0F0F0"/>
                    </a:solidFill>
                  </a:tcPr>
                </a:tc>
                <a:tc>
                  <a:txBody>
                    <a:bodyPr/>
                    <a:lstStyle/>
                    <a:p>
                      <a:pPr>
                        <a:defRPr sz="1800">
                          <a:solidFill>
                            <a:srgbClr val="251C23"/>
                          </a:solidFill>
                          <a:latin typeface="Times New Roman"/>
                        </a:defRPr>
                      </a:pPr>
                      <a:r>
                        <a:t>Interactive Gantt chart</a:t>
                      </a:r>
                    </a:p>
                  </a:txBody>
                  <a:tcPr>
                    <a:solidFill>
                      <a:srgbClr val="F0F0F0"/>
                    </a:solidFill>
                  </a:tcPr>
                </a:tc>
              </a:tr>
              <a:tr h="342900">
                <a:tc>
                  <a:txBody>
                    <a:bodyPr/>
                    <a:lstStyle/>
                    <a:p>
                      <a:pPr>
                        <a:defRPr sz="1800">
                          <a:solidFill>
                            <a:srgbClr val="251C23"/>
                          </a:solidFill>
                          <a:latin typeface="Times New Roman"/>
                        </a:defRPr>
                      </a:pPr>
                      <a:r>
                        <a:t>Axios</a:t>
                      </a:r>
                    </a:p>
                  </a:txBody>
                  <a:tcPr/>
                </a:tc>
                <a:tc>
                  <a:txBody>
                    <a:bodyPr/>
                    <a:lstStyle/>
                    <a:p>
                      <a:pPr>
                        <a:defRPr sz="1800">
                          <a:solidFill>
                            <a:srgbClr val="251C23"/>
                          </a:solidFill>
                          <a:latin typeface="Times New Roman"/>
                        </a:defRPr>
                      </a:pPr>
                      <a:r>
                        <a:t>HTTP client with interceptors</a:t>
                      </a:r>
                    </a:p>
                  </a:txBody>
                  <a:tcPr/>
                </a:tc>
              </a:tr>
              <a:tr h="342900">
                <a:tc>
                  <a:txBody>
                    <a:bodyPr/>
                    <a:lstStyle/>
                    <a:p>
                      <a:pPr>
                        <a:defRPr sz="1800">
                          <a:solidFill>
                            <a:srgbClr val="251C23"/>
                          </a:solidFill>
                          <a:latin typeface="Times New Roman"/>
                        </a:defRPr>
                      </a:pPr>
                      <a:r>
                        <a:t>react-hot-toast</a:t>
                      </a:r>
                    </a:p>
                  </a:txBody>
                  <a:tcPr>
                    <a:solidFill>
                      <a:srgbClr val="F0F0F0"/>
                    </a:solidFill>
                  </a:tcPr>
                </a:tc>
                <a:tc>
                  <a:txBody>
                    <a:bodyPr/>
                    <a:lstStyle/>
                    <a:p>
                      <a:pPr>
                        <a:defRPr sz="1800">
                          <a:solidFill>
                            <a:srgbClr val="251C23"/>
                          </a:solidFill>
                          <a:latin typeface="Times New Roman"/>
                        </a:defRPr>
                      </a:pPr>
                      <a:r>
                        <a:t>Toast notifications</a:t>
                      </a:r>
                    </a:p>
                  </a:txBody>
                  <a:tcPr>
                    <a:solidFill>
                      <a:srgbClr val="F0F0F0"/>
                    </a:solidFill>
                  </a:tcPr>
                </a:tc>
              </a:tr>
              <a:tr h="342900">
                <a:tc>
                  <a:txBody>
                    <a:bodyPr/>
                    <a:lstStyle/>
                    <a:p>
                      <a:pPr>
                        <a:defRPr sz="1800">
                          <a:solidFill>
                            <a:srgbClr val="251C23"/>
                          </a:solidFill>
                          <a:latin typeface="Times New Roman"/>
                        </a:defRPr>
                      </a:pPr>
                      <a:r>
                        <a:t>React Icons</a:t>
                      </a:r>
                    </a:p>
                  </a:txBody>
                  <a:tcPr/>
                </a:tc>
                <a:tc>
                  <a:txBody>
                    <a:bodyPr/>
                    <a:lstStyle/>
                    <a:p>
                      <a:pPr>
                        <a:defRPr sz="1800">
                          <a:solidFill>
                            <a:srgbClr val="251C23"/>
                          </a:solidFill>
                          <a:latin typeface="Times New Roman"/>
                        </a:defRPr>
                      </a:pPr>
                      <a:r>
                        <a:t>Icon library</a:t>
                      </a:r>
                    </a:p>
                  </a:txBody>
                  <a:tcPr/>
                </a:tc>
              </a:tr>
            </a:tbl>
          </a:graphicData>
        </a:graphic>
      </p:graphicFrame>
      <p:sp>
        <p:nvSpPr>
          <p:cNvPr id="5" name="TextBox 4"/>
          <p:cNvSpPr txBox="1"/>
          <p:nvPr/>
        </p:nvSpPr>
        <p:spPr>
          <a:xfrm>
            <a:off x="9144000" y="1645920"/>
            <a:ext cx="7315200" cy="365760"/>
          </a:xfrm>
          <a:prstGeom prst="rect">
            <a:avLst/>
          </a:prstGeom>
          <a:noFill/>
        </p:spPr>
        <p:txBody>
          <a:bodyPr wrap="square">
            <a:spAutoFit/>
          </a:bodyPr>
          <a:lstStyle/>
          <a:p>
            <a:pPr algn="l"/>
            <a:r>
              <a:rPr sz="2400" b="1">
                <a:solidFill>
                  <a:srgbClr val="1E3A5F"/>
                </a:solidFill>
                <a:latin typeface="Times New Roman"/>
              </a:rPr>
              <a:t>Backend</a:t>
            </a:r>
          </a:p>
        </p:txBody>
      </p:sp>
      <p:graphicFrame>
        <p:nvGraphicFramePr>
          <p:cNvPr id="6" name="Table 5"/>
          <p:cNvGraphicFramePr>
            <a:graphicFrameLocks noGrp="1"/>
          </p:cNvGraphicFramePr>
          <p:nvPr/>
        </p:nvGraphicFramePr>
        <p:xfrm>
          <a:off x="9144000" y="2103120"/>
          <a:ext cx="7315200" cy="2743200"/>
        </p:xfrm>
        <a:graphic>
          <a:graphicData uri="http://schemas.openxmlformats.org/drawingml/2006/table">
            <a:tbl>
              <a:tblPr firstRow="1" bandRow="1">
                <a:tableStyleId>{5C22544A-7EE6-4342-B048-85BDC9FD1C3A}</a:tableStyleId>
              </a:tblPr>
              <a:tblGrid>
                <a:gridCol w="3200400"/>
                <a:gridCol w="4114800"/>
              </a:tblGrid>
              <a:tr h="342900">
                <a:tc>
                  <a:txBody>
                    <a:bodyPr/>
                    <a:lstStyle/>
                    <a:p>
                      <a:pPr>
                        <a:defRPr sz="2000" b="1">
                          <a:solidFill>
                            <a:srgbClr val="FFFFFF"/>
                          </a:solidFill>
                          <a:latin typeface="Times New Roman"/>
                        </a:defRPr>
                      </a:pPr>
                      <a:r>
                        <a:t>Technology</a:t>
                      </a:r>
                    </a:p>
                  </a:txBody>
                  <a:tcPr>
                    <a:solidFill>
                      <a:srgbClr val="1E3A5F"/>
                    </a:solidFill>
                  </a:tcPr>
                </a:tc>
                <a:tc>
                  <a:txBody>
                    <a:bodyPr/>
                    <a:lstStyle/>
                    <a:p>
                      <a:pPr>
                        <a:defRPr sz="2000" b="1">
                          <a:solidFill>
                            <a:srgbClr val="FFFFFF"/>
                          </a:solidFill>
                          <a:latin typeface="Times New Roman"/>
                        </a:defRPr>
                      </a:pPr>
                      <a:r>
                        <a:t>Purpose</a:t>
                      </a:r>
                    </a:p>
                  </a:txBody>
                  <a:tcPr>
                    <a:solidFill>
                      <a:srgbClr val="1E3A5F"/>
                    </a:solidFill>
                  </a:tcPr>
                </a:tc>
              </a:tr>
              <a:tr h="342900">
                <a:tc>
                  <a:txBody>
                    <a:bodyPr/>
                    <a:lstStyle/>
                    <a:p>
                      <a:pPr>
                        <a:defRPr sz="1800">
                          <a:solidFill>
                            <a:srgbClr val="251C23"/>
                          </a:solidFill>
                          <a:latin typeface="Times New Roman"/>
                        </a:defRPr>
                      </a:pPr>
                      <a:r>
                        <a:t>Node.js</a:t>
                      </a:r>
                    </a:p>
                  </a:txBody>
                  <a:tcPr/>
                </a:tc>
                <a:tc>
                  <a:txBody>
                    <a:bodyPr/>
                    <a:lstStyle/>
                    <a:p>
                      <a:pPr>
                        <a:defRPr sz="1800">
                          <a:solidFill>
                            <a:srgbClr val="251C23"/>
                          </a:solidFill>
                          <a:latin typeface="Times New Roman"/>
                        </a:defRPr>
                      </a:pPr>
                      <a:r>
                        <a:t>JavaScript runtime</a:t>
                      </a:r>
                    </a:p>
                  </a:txBody>
                  <a:tcPr/>
                </a:tc>
              </a:tr>
              <a:tr h="342900">
                <a:tc>
                  <a:txBody>
                    <a:bodyPr/>
                    <a:lstStyle/>
                    <a:p>
                      <a:pPr>
                        <a:defRPr sz="1800">
                          <a:solidFill>
                            <a:srgbClr val="251C23"/>
                          </a:solidFill>
                          <a:latin typeface="Times New Roman"/>
                        </a:defRPr>
                      </a:pPr>
                      <a:r>
                        <a:t>Express.js 4</a:t>
                      </a:r>
                    </a:p>
                  </a:txBody>
                  <a:tcPr>
                    <a:solidFill>
                      <a:srgbClr val="F0F0F0"/>
                    </a:solidFill>
                  </a:tcPr>
                </a:tc>
                <a:tc>
                  <a:txBody>
                    <a:bodyPr/>
                    <a:lstStyle/>
                    <a:p>
                      <a:pPr>
                        <a:defRPr sz="1800">
                          <a:solidFill>
                            <a:srgbClr val="251C23"/>
                          </a:solidFill>
                          <a:latin typeface="Times New Roman"/>
                        </a:defRPr>
                      </a:pPr>
                      <a:r>
                        <a:t>Web framework</a:t>
                      </a:r>
                    </a:p>
                  </a:txBody>
                  <a:tcPr>
                    <a:solidFill>
                      <a:srgbClr val="F0F0F0"/>
                    </a:solidFill>
                  </a:tcPr>
                </a:tc>
              </a:tr>
              <a:tr h="342900">
                <a:tc>
                  <a:txBody>
                    <a:bodyPr/>
                    <a:lstStyle/>
                    <a:p>
                      <a:pPr>
                        <a:defRPr sz="1800">
                          <a:solidFill>
                            <a:srgbClr val="251C23"/>
                          </a:solidFill>
                          <a:latin typeface="Times New Roman"/>
                        </a:defRPr>
                      </a:pPr>
                      <a:r>
                        <a:t>MongoDB + Mongoose</a:t>
                      </a:r>
                    </a:p>
                  </a:txBody>
                  <a:tcPr/>
                </a:tc>
                <a:tc>
                  <a:txBody>
                    <a:bodyPr/>
                    <a:lstStyle/>
                    <a:p>
                      <a:pPr>
                        <a:defRPr sz="1800">
                          <a:solidFill>
                            <a:srgbClr val="251C23"/>
                          </a:solidFill>
                          <a:latin typeface="Times New Roman"/>
                        </a:defRPr>
                      </a:pPr>
                      <a:r>
                        <a:t>NoSQL database + ODM</a:t>
                      </a:r>
                    </a:p>
                  </a:txBody>
                  <a:tcPr/>
                </a:tc>
              </a:tr>
              <a:tr h="342900">
                <a:tc>
                  <a:txBody>
                    <a:bodyPr/>
                    <a:lstStyle/>
                    <a:p>
                      <a:pPr>
                        <a:defRPr sz="1800">
                          <a:solidFill>
                            <a:srgbClr val="251C23"/>
                          </a:solidFill>
                          <a:latin typeface="Times New Roman"/>
                        </a:defRPr>
                      </a:pPr>
                      <a:r>
                        <a:t>JWT (jsonwebtoken)</a:t>
                      </a:r>
                    </a:p>
                  </a:txBody>
                  <a:tcPr>
                    <a:solidFill>
                      <a:srgbClr val="F0F0F0"/>
                    </a:solidFill>
                  </a:tcPr>
                </a:tc>
                <a:tc>
                  <a:txBody>
                    <a:bodyPr/>
                    <a:lstStyle/>
                    <a:p>
                      <a:pPr>
                        <a:defRPr sz="1800">
                          <a:solidFill>
                            <a:srgbClr val="251C23"/>
                          </a:solidFill>
                          <a:latin typeface="Times New Roman"/>
                        </a:defRPr>
                      </a:pPr>
                      <a:r>
                        <a:t>Authentication tokens</a:t>
                      </a:r>
                    </a:p>
                  </a:txBody>
                  <a:tcPr>
                    <a:solidFill>
                      <a:srgbClr val="F0F0F0"/>
                    </a:solidFill>
                  </a:tcPr>
                </a:tc>
              </a:tr>
              <a:tr h="342900">
                <a:tc>
                  <a:txBody>
                    <a:bodyPr/>
                    <a:lstStyle/>
                    <a:p>
                      <a:pPr>
                        <a:defRPr sz="1800">
                          <a:solidFill>
                            <a:srgbClr val="251C23"/>
                          </a:solidFill>
                          <a:latin typeface="Times New Roman"/>
                        </a:defRPr>
                      </a:pPr>
                      <a:r>
                        <a:t>bcryptjs</a:t>
                      </a:r>
                    </a:p>
                  </a:txBody>
                  <a:tcPr/>
                </a:tc>
                <a:tc>
                  <a:txBody>
                    <a:bodyPr/>
                    <a:lstStyle/>
                    <a:p>
                      <a:pPr>
                        <a:defRPr sz="1800">
                          <a:solidFill>
                            <a:srgbClr val="251C23"/>
                          </a:solidFill>
                          <a:latin typeface="Times New Roman"/>
                        </a:defRPr>
                      </a:pPr>
                      <a:r>
                        <a:t>Password hashing</a:t>
                      </a:r>
                    </a:p>
                  </a:txBody>
                  <a:tcPr/>
                </a:tc>
              </a:tr>
              <a:tr h="342900">
                <a:tc>
                  <a:txBody>
                    <a:bodyPr/>
                    <a:lstStyle/>
                    <a:p>
                      <a:pPr>
                        <a:defRPr sz="1800">
                          <a:solidFill>
                            <a:srgbClr val="251C23"/>
                          </a:solidFill>
                          <a:latin typeface="Times New Roman"/>
                        </a:defRPr>
                      </a:pPr>
                      <a:r>
                        <a:t>Nodemailer</a:t>
                      </a:r>
                    </a:p>
                  </a:txBody>
                  <a:tcPr>
                    <a:solidFill>
                      <a:srgbClr val="F0F0F0"/>
                    </a:solidFill>
                  </a:tcPr>
                </a:tc>
                <a:tc>
                  <a:txBody>
                    <a:bodyPr/>
                    <a:lstStyle/>
                    <a:p>
                      <a:pPr>
                        <a:defRPr sz="1800">
                          <a:solidFill>
                            <a:srgbClr val="251C23"/>
                          </a:solidFill>
                          <a:latin typeface="Times New Roman"/>
                        </a:defRPr>
                      </a:pPr>
                      <a:r>
                        <a:t>Email sending (OTP, W3.css templates)</a:t>
                      </a:r>
                    </a:p>
                  </a:txBody>
                  <a:tcPr>
                    <a:solidFill>
                      <a:srgbClr val="F0F0F0"/>
                    </a:solidFill>
                  </a:tcPr>
                </a:tc>
              </a:tr>
              <a:tr h="342900">
                <a:tc>
                  <a:txBody>
                    <a:bodyPr/>
                    <a:lstStyle/>
                    <a:p>
                      <a:pPr>
                        <a:defRPr sz="1800">
                          <a:solidFill>
                            <a:srgbClr val="251C23"/>
                          </a:solidFill>
                          <a:latin typeface="Times New Roman"/>
                        </a:defRPr>
                      </a:pPr>
                      <a:r>
                        <a:t>Ethereal Email</a:t>
                      </a:r>
                    </a:p>
                  </a:txBody>
                  <a:tcPr/>
                </a:tc>
                <a:tc>
                  <a:txBody>
                    <a:bodyPr/>
                    <a:lstStyle/>
                    <a:p>
                      <a:pPr>
                        <a:defRPr sz="1800">
                          <a:solidFill>
                            <a:srgbClr val="251C23"/>
                          </a:solidFill>
                          <a:latin typeface="Times New Roman"/>
                        </a:defRPr>
                      </a:pPr>
                      <a:r>
                        <a:t>Auto test accounts (development)</a:t>
                      </a:r>
                    </a:p>
                  </a:txBody>
                  <a:tcPr/>
                </a:tc>
              </a:tr>
            </a:tbl>
          </a:graphicData>
        </a:graphic>
      </p:graphicFrame>
      <p:sp>
        <p:nvSpPr>
          <p:cNvPr id="7" name="TextBox 6"/>
          <p:cNvSpPr txBox="1"/>
          <p:nvPr/>
        </p:nvSpPr>
        <p:spPr>
          <a:xfrm>
            <a:off x="457200" y="5486400"/>
            <a:ext cx="7315200" cy="365760"/>
          </a:xfrm>
          <a:prstGeom prst="rect">
            <a:avLst/>
          </a:prstGeom>
          <a:noFill/>
        </p:spPr>
        <p:txBody>
          <a:bodyPr wrap="square">
            <a:spAutoFit/>
          </a:bodyPr>
          <a:lstStyle/>
          <a:p>
            <a:pPr algn="l"/>
            <a:r>
              <a:rPr sz="2400" b="1">
                <a:solidFill>
                  <a:srgbClr val="1E3A5F"/>
                </a:solidFill>
                <a:latin typeface="Times New Roman"/>
              </a:rPr>
              <a:t>Development Tools</a:t>
            </a:r>
          </a:p>
        </p:txBody>
      </p:sp>
      <p:sp>
        <p:nvSpPr>
          <p:cNvPr id="8" name="TextBox 7"/>
          <p:cNvSpPr txBox="1"/>
          <p:nvPr/>
        </p:nvSpPr>
        <p:spPr>
          <a:xfrm>
            <a:off x="457200" y="5943600"/>
            <a:ext cx="15544800" cy="2286000"/>
          </a:xfrm>
          <a:prstGeom prst="rect">
            <a:avLst/>
          </a:prstGeom>
          <a:noFill/>
        </p:spPr>
        <p:txBody>
          <a:bodyPr wrap="square">
            <a:spAutoFit/>
          </a:bodyPr>
          <a:lstStyle/>
          <a:p>
            <a:pPr>
              <a:spcBef>
                <a:spcPts val="400"/>
              </a:spcBef>
              <a:spcAft>
                <a:spcPts val="600"/>
              </a:spcAft>
            </a:pPr>
            <a:r>
              <a:rPr sz="1800" b="0">
                <a:solidFill>
                  <a:srgbClr val="251C23"/>
                </a:solidFill>
                <a:latin typeface="Times New Roman"/>
              </a:rPr>
              <a:t>▸ concurrently — Run frontend + backend simultaneously</a:t>
            </a:r>
          </a:p>
          <a:p>
            <a:pPr>
              <a:spcBef>
                <a:spcPts val="400"/>
              </a:spcBef>
              <a:spcAft>
                <a:spcPts val="600"/>
              </a:spcAft>
            </a:pPr>
            <a:r>
              <a:rPr sz="1800" b="0">
                <a:solidFill>
                  <a:srgbClr val="251C23"/>
                </a:solidFill>
                <a:latin typeface="Times New Roman"/>
              </a:rPr>
              <a:t>▸ nodemon — Auto-restart server on changes</a:t>
            </a:r>
          </a:p>
          <a:p>
            <a:pPr>
              <a:spcBef>
                <a:spcPts val="400"/>
              </a:spcBef>
              <a:spcAft>
                <a:spcPts val="600"/>
              </a:spcAft>
            </a:pPr>
            <a:r>
              <a:rPr sz="1800" b="0">
                <a:solidFill>
                  <a:srgbClr val="251C23"/>
                </a:solidFill>
                <a:latin typeface="Times New Roman"/>
              </a:rPr>
              <a:t>▸ VS Code — IDE with extensions</a:t>
            </a:r>
          </a:p>
          <a:p>
            <a:pPr>
              <a:spcBef>
                <a:spcPts val="400"/>
              </a:spcBef>
              <a:spcAft>
                <a:spcPts val="600"/>
              </a:spcAft>
            </a:pPr>
            <a:r>
              <a:rPr sz="1800" b="0">
                <a:solidFill>
                  <a:srgbClr val="251C23"/>
                </a:solidFill>
                <a:latin typeface="Times New Roman"/>
              </a:rPr>
              <a:t>▸ Postman — API testing</a:t>
            </a:r>
          </a:p>
          <a:p>
            <a:pPr>
              <a:spcBef>
                <a:spcPts val="400"/>
              </a:spcBef>
              <a:spcAft>
                <a:spcPts val="600"/>
              </a:spcAft>
            </a:pPr>
            <a:r>
              <a:rPr sz="1800" b="0">
                <a:solidFill>
                  <a:srgbClr val="251C23"/>
                </a:solidFill>
                <a:latin typeface="Times New Roman"/>
              </a:rPr>
              <a:t>▸ Git — Version control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AUTHENTICATION SYSTEM</a:t>
            </a:r>
          </a:p>
        </p:txBody>
      </p:sp>
      <p:sp>
        <p:nvSpPr>
          <p:cNvPr id="3" name="TextBox 2"/>
          <p:cNvSpPr txBox="1"/>
          <p:nvPr/>
        </p:nvSpPr>
        <p:spPr>
          <a:xfrm>
            <a:off x="914400" y="1828800"/>
            <a:ext cx="16002000" cy="914400"/>
          </a:xfrm>
          <a:prstGeom prst="rect">
            <a:avLst/>
          </a:prstGeom>
          <a:noFill/>
        </p:spPr>
        <p:txBody>
          <a:bodyPr wrap="square">
            <a:spAutoFit/>
          </a:bodyPr>
          <a:lstStyle/>
          <a:p>
            <a:pPr algn="l">
              <a:lnSpc>
                <a:spcPts val="4200"/>
              </a:lnSpc>
            </a:pPr>
            <a:r>
              <a:rPr sz="2800" b="0">
                <a:solidFill>
                  <a:srgbClr val="000000"/>
                </a:solidFill>
                <a:latin typeface="Times New Roman"/>
              </a:rPr>
              <a:t>The application implements a complete authentication system with the following features:
</a:t>
            </a:r>
          </a:p>
        </p:txBody>
      </p:sp>
      <p:sp>
        <p:nvSpPr>
          <p:cNvPr id="4" name="TextBox 3"/>
          <p:cNvSpPr txBox="1"/>
          <p:nvPr/>
        </p:nvSpPr>
        <p:spPr>
          <a:xfrm>
            <a:off x="731520" y="2926080"/>
            <a:ext cx="15544800" cy="5486400"/>
          </a:xfrm>
          <a:prstGeom prst="rect">
            <a:avLst/>
          </a:prstGeom>
          <a:noFill/>
        </p:spPr>
        <p:txBody>
          <a:bodyPr wrap="square">
            <a:spAutoFit/>
          </a:bodyPr>
          <a:lstStyle/>
          <a:p>
            <a:pPr>
              <a:spcBef>
                <a:spcPts val="400"/>
              </a:spcBef>
              <a:spcAft>
                <a:spcPts val="600"/>
              </a:spcAft>
            </a:pPr>
            <a:r>
              <a:rPr sz="2000" b="1">
                <a:solidFill>
                  <a:srgbClr val="251C23"/>
                </a:solidFill>
                <a:latin typeface="Times New Roman"/>
              </a:rPr>
              <a:t>• Register:</a:t>
            </a:r>
            <a:r>
              <a:rPr sz="2000" b="0">
                <a:solidFill>
                  <a:srgbClr val="251C23"/>
                </a:solidFill>
                <a:latin typeface="Times New Roman"/>
              </a:rPr>
              <a:t> User registration with name, email, password validation and bcrypt hashing (salt rounds: 10)</a:t>
            </a:r>
          </a:p>
          <a:p>
            <a:pPr>
              <a:spcBef>
                <a:spcPts val="400"/>
              </a:spcBef>
              <a:spcAft>
                <a:spcPts val="600"/>
              </a:spcAft>
            </a:pPr>
            <a:r>
              <a:rPr sz="2000" b="1">
                <a:solidFill>
                  <a:srgbClr val="251C23"/>
                </a:solidFill>
                <a:latin typeface="Times New Roman"/>
              </a:rPr>
              <a:t>• Login:</a:t>
            </a:r>
            <a:r>
              <a:rPr sz="2000" b="0">
                <a:solidFill>
                  <a:srgbClr val="251C23"/>
                </a:solidFill>
                <a:latin typeface="Times New Roman"/>
              </a:rPr>
              <a:t> Email/password authentication returning JWT token stored in localStorage</a:t>
            </a:r>
          </a:p>
          <a:p>
            <a:pPr>
              <a:spcBef>
                <a:spcPts val="400"/>
              </a:spcBef>
              <a:spcAft>
                <a:spcPts val="600"/>
              </a:spcAft>
            </a:pPr>
            <a:r>
              <a:rPr sz="2000" b="1">
                <a:solidFill>
                  <a:srgbClr val="251C23"/>
                </a:solidFill>
                <a:latin typeface="Times New Roman"/>
              </a:rPr>
              <a:t>• Protected Routes:</a:t>
            </a:r>
            <a:r>
              <a:rPr sz="2000" b="0">
                <a:solidFill>
                  <a:srgbClr val="251C23"/>
                </a:solidFill>
                <a:latin typeface="Times New Roman"/>
              </a:rPr>
              <a:t> PrivateRoute component checks auth state — redirects to login if unauthenticated</a:t>
            </a:r>
          </a:p>
          <a:p>
            <a:pPr>
              <a:spcBef>
                <a:spcPts val="400"/>
              </a:spcBef>
              <a:spcAft>
                <a:spcPts val="600"/>
              </a:spcAft>
            </a:pPr>
            <a:r>
              <a:rPr sz="2000" b="1">
                <a:solidFill>
                  <a:srgbClr val="251C23"/>
                </a:solidFill>
                <a:latin typeface="Times New Roman"/>
              </a:rPr>
              <a:t>• Forgot Password:</a:t>
            </a:r>
            <a:r>
              <a:rPr sz="2000" b="0">
                <a:solidFill>
                  <a:srgbClr val="251C23"/>
                </a:solidFill>
                <a:latin typeface="Times New Roman"/>
              </a:rPr>
              <a:t> 3-step OTP flow — Enter email → Receive 6-digit OTP → Set new password</a:t>
            </a:r>
          </a:p>
          <a:p>
            <a:pPr>
              <a:spcBef>
                <a:spcPts val="400"/>
              </a:spcBef>
              <a:spcAft>
                <a:spcPts val="600"/>
              </a:spcAft>
            </a:pPr>
            <a:r>
              <a:rPr sz="2000" b="1">
                <a:solidFill>
                  <a:srgbClr val="251C23"/>
                </a:solidFill>
                <a:latin typeface="Times New Roman"/>
              </a:rPr>
              <a:t>• OTP Email:</a:t>
            </a:r>
            <a:r>
              <a:rPr sz="2000" b="0">
                <a:solidFill>
                  <a:srgbClr val="251C23"/>
                </a:solidFill>
                <a:latin typeface="Times New Roman"/>
              </a:rPr>
              <a:t> Nodemailer sends W3.css-styled HTML emails via Ethereal (dev) or production SMTP</a:t>
            </a:r>
          </a:p>
          <a:p>
            <a:pPr>
              <a:spcBef>
                <a:spcPts val="400"/>
              </a:spcBef>
              <a:spcAft>
                <a:spcPts val="600"/>
              </a:spcAft>
            </a:pPr>
            <a:r>
              <a:rPr sz="2000" b="1">
                <a:solidFill>
                  <a:srgbClr val="251C23"/>
                </a:solidFill>
                <a:latin typeface="Times New Roman"/>
              </a:rPr>
              <a:t>• OTP Verification:</a:t>
            </a:r>
            <a:r>
              <a:rPr sz="2000" b="0">
                <a:solidFill>
                  <a:srgbClr val="251C23"/>
                </a:solidFill>
                <a:latin typeface="Times New Roman"/>
              </a:rPr>
              <a:t> SHA-256 hashed OTP stored in MongoDB, 10-minute expiry, single-use</a:t>
            </a:r>
          </a:p>
          <a:p>
            <a:pPr>
              <a:spcBef>
                <a:spcPts val="400"/>
              </a:spcBef>
              <a:spcAft>
                <a:spcPts val="600"/>
              </a:spcAft>
            </a:pPr>
            <a:r>
              <a:rPr sz="2000" b="1">
                <a:solidFill>
                  <a:srgbClr val="251C23"/>
                </a:solidFill>
                <a:latin typeface="Times New Roman"/>
              </a:rPr>
              <a:t>• Password Strength:</a:t>
            </a:r>
            <a:r>
              <a:rPr sz="2000" b="0">
                <a:solidFill>
                  <a:srgbClr val="251C23"/>
                </a:solidFill>
                <a:latin typeface="Times New Roman"/>
              </a:rPr>
              <a:t> Real-time client-side validation (length, uppercase, lowercase, digit, special char)</a:t>
            </a:r>
          </a:p>
          <a:p>
            <a:pPr>
              <a:spcBef>
                <a:spcPts val="400"/>
              </a:spcBef>
              <a:spcAft>
                <a:spcPts val="600"/>
              </a:spcAft>
            </a:pPr>
            <a:r>
              <a:rPr sz="2000" b="1">
                <a:solidFill>
                  <a:srgbClr val="251C23"/>
                </a:solidFill>
                <a:latin typeface="Times New Roman"/>
              </a:rPr>
              <a:t>• Auto Sign-In:</a:t>
            </a:r>
            <a:r>
              <a:rPr sz="2000" b="0">
                <a:solidFill>
                  <a:srgbClr val="251C23"/>
                </a:solidFill>
                <a:latin typeface="Times New Roman"/>
              </a:rPr>
              <a:t> After successful password reset, user receives JWT and is redirected to Dashboard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EMAIL SERVICE — Nodemailer + W3.css</a:t>
            </a:r>
          </a:p>
        </p:txBody>
      </p:sp>
      <p:sp>
        <p:nvSpPr>
          <p:cNvPr id="3" name="TextBox 2"/>
          <p:cNvSpPr txBox="1"/>
          <p:nvPr/>
        </p:nvSpPr>
        <p:spPr>
          <a:xfrm>
            <a:off x="731520" y="2011680"/>
            <a:ext cx="15544800" cy="6400800"/>
          </a:xfrm>
          <a:prstGeom prst="rect">
            <a:avLst/>
          </a:prstGeom>
          <a:noFill/>
        </p:spPr>
        <p:txBody>
          <a:bodyPr wrap="square">
            <a:spAutoFit/>
          </a:bodyPr>
          <a:lstStyle/>
          <a:p>
            <a:pPr>
              <a:spcBef>
                <a:spcPts val="400"/>
              </a:spcBef>
              <a:spcAft>
                <a:spcPts val="600"/>
              </a:spcAft>
            </a:pPr>
            <a:r>
              <a:rPr sz="1900" b="1">
                <a:solidFill>
                  <a:srgbClr val="251C23"/>
                </a:solidFill>
                <a:latin typeface="Times New Roman"/>
              </a:rPr>
              <a:t>• Auto-Initialization:</a:t>
            </a:r>
            <a:r>
              <a:rPr sz="1900" b="0">
                <a:solidFill>
                  <a:srgbClr val="251C23"/>
                </a:solidFill>
                <a:latin typeface="Times New Roman"/>
              </a:rPr>
              <a:t> On server start, tries production SMTP credentials first — automatically falls back to Ethereal test account if credentials are missing or invalid</a:t>
            </a:r>
          </a:p>
          <a:p>
            <a:pPr>
              <a:spcBef>
                <a:spcPts val="400"/>
              </a:spcBef>
              <a:spcAft>
                <a:spcPts val="600"/>
              </a:spcAft>
            </a:pPr>
            <a:r>
              <a:rPr sz="1900" b="1">
                <a:solidFill>
                  <a:srgbClr val="251C23"/>
                </a:solidFill>
                <a:latin typeface="Times New Roman"/>
              </a:rPr>
              <a:t>• Ethereal Email:</a:t>
            </a:r>
            <a:r>
              <a:rPr sz="1900" b="0">
                <a:solidFill>
                  <a:srgbClr val="251C23"/>
                </a:solidFill>
                <a:latin typeface="Times New Roman"/>
              </a:rPr>
              <a:t> Nodemailer's free test service — auto-creates disposable SMTP accounts, captures all emails, provides preview URLs to view emails in browser</a:t>
            </a:r>
          </a:p>
          <a:p>
            <a:pPr>
              <a:spcBef>
                <a:spcPts val="400"/>
              </a:spcBef>
              <a:spcAft>
                <a:spcPts val="600"/>
              </a:spcAft>
            </a:pPr>
            <a:r>
              <a:rPr sz="1900" b="1">
                <a:solidFill>
                  <a:srgbClr val="251C23"/>
                </a:solidFill>
                <a:latin typeface="Times New Roman"/>
              </a:rPr>
              <a:t>• W3.css HTML Templates:</a:t>
            </a:r>
            <a:r>
              <a:rPr sz="1900" b="0">
                <a:solidFill>
                  <a:srgbClr val="251C23"/>
                </a:solidFill>
                <a:latin typeface="Times New Roman"/>
              </a:rPr>
              <a:t> Beautiful responsive email templates using W3.css framework with gradient headers, OTP code display, action buttons, and security notices</a:t>
            </a:r>
          </a:p>
          <a:p>
            <a:pPr>
              <a:spcBef>
                <a:spcPts val="400"/>
              </a:spcBef>
              <a:spcAft>
                <a:spcPts val="600"/>
              </a:spcAft>
            </a:pPr>
            <a:r>
              <a:rPr sz="1900" b="1">
                <a:solidFill>
                  <a:srgbClr val="251C23"/>
                </a:solidFill>
                <a:latin typeface="Times New Roman"/>
              </a:rPr>
              <a:t>• OTP Email:</a:t>
            </a:r>
            <a:r>
              <a:rPr sz="1900" b="0">
                <a:solidFill>
                  <a:srgbClr val="251C23"/>
                </a:solidFill>
                <a:latin typeface="Times New Roman"/>
              </a:rPr>
              <a:t> Sends 6-digit verification code with styled template — large code display, 10-minute expiry notice, security warning</a:t>
            </a:r>
          </a:p>
          <a:p>
            <a:pPr>
              <a:spcBef>
                <a:spcPts val="400"/>
              </a:spcBef>
              <a:spcAft>
                <a:spcPts val="600"/>
              </a:spcAft>
            </a:pPr>
            <a:r>
              <a:rPr sz="1900" b="1">
                <a:solidFill>
                  <a:srgbClr val="251C23"/>
                </a:solidFill>
                <a:latin typeface="Times New Roman"/>
              </a:rPr>
              <a:t>• Welcome Email:</a:t>
            </a:r>
            <a:r>
              <a:rPr sz="1900" b="0">
                <a:solidFill>
                  <a:srgbClr val="251C23"/>
                </a:solidFill>
                <a:latin typeface="Times New Roman"/>
              </a:rPr>
              <a:t> Sent on registration with dashboard link and feature highlights</a:t>
            </a:r>
          </a:p>
          <a:p>
            <a:pPr>
              <a:spcBef>
                <a:spcPts val="400"/>
              </a:spcBef>
              <a:spcAft>
                <a:spcPts val="600"/>
              </a:spcAft>
            </a:pPr>
            <a:r>
              <a:rPr sz="1900" b="1">
                <a:solidFill>
                  <a:srgbClr val="251C23"/>
                </a:solidFill>
                <a:latin typeface="Times New Roman"/>
              </a:rPr>
              <a:t>• Password Change Confirmation:</a:t>
            </a:r>
            <a:r>
              <a:rPr sz="1900" b="0">
                <a:solidFill>
                  <a:srgbClr val="251C23"/>
                </a:solidFill>
                <a:latin typeface="Times New Roman"/>
              </a:rPr>
              <a:t> Sent after successful password reset with timestamp and sign-in link</a:t>
            </a:r>
          </a:p>
          <a:p>
            <a:pPr>
              <a:spcBef>
                <a:spcPts val="400"/>
              </a:spcBef>
              <a:spcAft>
                <a:spcPts val="600"/>
              </a:spcAft>
            </a:pPr>
            <a:r>
              <a:rPr sz="1900" b="1">
                <a:solidFill>
                  <a:srgbClr val="251C23"/>
                </a:solidFill>
                <a:latin typeface="Times New Roman"/>
              </a:rPr>
              <a:t>• Three Modes:</a:t>
            </a:r>
            <a:r>
              <a:rPr sz="1900" b="0">
                <a:solidFill>
                  <a:srgbClr val="251C23"/>
                </a:solidFill>
                <a:latin typeface="Times New Roman"/>
              </a:rPr>
              <a:t> Production (real SMTP) → Ethereal (test capture) → Console (fallback logging)</a:t>
            </a:r>
          </a:p>
          <a:p>
            <a:pPr>
              <a:spcBef>
                <a:spcPts val="400"/>
              </a:spcBef>
              <a:spcAft>
                <a:spcPts val="600"/>
              </a:spcAft>
            </a:pPr>
            <a:r>
              <a:rPr sz="1900" b="1">
                <a:solidFill>
                  <a:srgbClr val="251C23"/>
                </a:solidFill>
                <a:latin typeface="Times New Roman"/>
              </a:rPr>
              <a:t>• Preview URLs:</a:t>
            </a:r>
            <a:r>
              <a:rPr sz="1900" b="0">
                <a:solidFill>
                  <a:srgbClr val="251C23"/>
                </a:solidFill>
                <a:latin typeface="Times New Roman"/>
              </a:rPr>
              <a:t> In development mode, Ethereal preview links are returned to the frontend so developers can view sent emails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Results — Dashboard View</a:t>
            </a:r>
          </a:p>
        </p:txBody>
      </p:sp>
      <p:sp>
        <p:nvSpPr>
          <p:cNvPr id="3" name="Rounded Rectangle 2"/>
          <p:cNvSpPr/>
          <p:nvPr/>
        </p:nvSpPr>
        <p:spPr>
          <a:xfrm>
            <a:off x="1828800" y="1828800"/>
            <a:ext cx="13258800" cy="64008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0" y="4114800"/>
            <a:ext cx="9601200" cy="1371600"/>
          </a:xfrm>
          <a:prstGeom prst="rect">
            <a:avLst/>
          </a:prstGeom>
          <a:noFill/>
        </p:spPr>
        <p:txBody>
          <a:bodyPr wrap="square">
            <a:spAutoFit/>
          </a:bodyPr>
          <a:lstStyle/>
          <a:p>
            <a:pPr algn="ctr"/>
            <a:r>
              <a:rPr sz="2000" b="0">
                <a:solidFill>
                  <a:srgbClr val="666666"/>
                </a:solidFill>
                <a:latin typeface="Times New Roman"/>
              </a:rPr>
              <a:t>[ Dashboard Screenshot ]
Real-time KPI cards, task distribution chart,
project progress bars, recent activities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Results — Projects &amp; Gantt Chart</a:t>
            </a:r>
          </a:p>
        </p:txBody>
      </p:sp>
      <p:sp>
        <p:nvSpPr>
          <p:cNvPr id="3" name="Rounded Rectangle 2"/>
          <p:cNvSpPr/>
          <p:nvPr/>
        </p:nvSpPr>
        <p:spPr>
          <a:xfrm>
            <a:off x="457200" y="1828800"/>
            <a:ext cx="7772400" cy="50292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657600"/>
            <a:ext cx="5943600" cy="1371600"/>
          </a:xfrm>
          <a:prstGeom prst="rect">
            <a:avLst/>
          </a:prstGeom>
          <a:noFill/>
        </p:spPr>
        <p:txBody>
          <a:bodyPr wrap="square">
            <a:spAutoFit/>
          </a:bodyPr>
          <a:lstStyle/>
          <a:p>
            <a:pPr algn="ctr"/>
            <a:r>
              <a:rPr sz="1800" b="0">
                <a:solidFill>
                  <a:srgbClr val="666666"/>
                </a:solidFill>
                <a:latin typeface="Times New Roman"/>
              </a:rPr>
              <a:t>[ Projects Page Screenshot ]
Project cards with status badges,
search &amp; filter controls</a:t>
            </a:r>
          </a:p>
        </p:txBody>
      </p:sp>
      <p:sp>
        <p:nvSpPr>
          <p:cNvPr id="5" name="Rounded Rectangle 4"/>
          <p:cNvSpPr/>
          <p:nvPr/>
        </p:nvSpPr>
        <p:spPr>
          <a:xfrm>
            <a:off x="8686800" y="1828800"/>
            <a:ext cx="8229600" cy="50292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3657600"/>
            <a:ext cx="6400800" cy="1371600"/>
          </a:xfrm>
          <a:prstGeom prst="rect">
            <a:avLst/>
          </a:prstGeom>
          <a:noFill/>
        </p:spPr>
        <p:txBody>
          <a:bodyPr wrap="square">
            <a:spAutoFit/>
          </a:bodyPr>
          <a:lstStyle/>
          <a:p>
            <a:pPr algn="ctr"/>
            <a:r>
              <a:rPr sz="1800" b="0">
                <a:solidFill>
                  <a:srgbClr val="666666"/>
                </a:solidFill>
                <a:latin typeface="Times New Roman"/>
              </a:rPr>
              <a:t>[ Gantt Chart Screenshot ]
Interactive timeline with drag-and-drop,
task dependencies and milestones</a:t>
            </a:r>
          </a:p>
        </p:txBody>
      </p:sp>
      <p:sp>
        <p:nvSpPr>
          <p:cNvPr id="7" name="TextBox 6"/>
          <p:cNvSpPr txBox="1"/>
          <p:nvPr/>
        </p:nvSpPr>
        <p:spPr>
          <a:xfrm>
            <a:off x="457200" y="7040880"/>
            <a:ext cx="7772400" cy="365760"/>
          </a:xfrm>
          <a:prstGeom prst="rect">
            <a:avLst/>
          </a:prstGeom>
          <a:noFill/>
        </p:spPr>
        <p:txBody>
          <a:bodyPr wrap="square">
            <a:spAutoFit/>
          </a:bodyPr>
          <a:lstStyle/>
          <a:p>
            <a:pPr algn="ctr"/>
            <a:r>
              <a:rPr sz="2000" b="1">
                <a:solidFill>
                  <a:srgbClr val="1E3A5F"/>
                </a:solidFill>
                <a:latin typeface="Times New Roman"/>
              </a:rPr>
              <a:t>Projects Page</a:t>
            </a:r>
          </a:p>
        </p:txBody>
      </p:sp>
      <p:sp>
        <p:nvSpPr>
          <p:cNvPr id="8" name="TextBox 7"/>
          <p:cNvSpPr txBox="1"/>
          <p:nvPr/>
        </p:nvSpPr>
        <p:spPr>
          <a:xfrm>
            <a:off x="8686800" y="7040880"/>
            <a:ext cx="8229600" cy="365760"/>
          </a:xfrm>
          <a:prstGeom prst="rect">
            <a:avLst/>
          </a:prstGeom>
          <a:noFill/>
        </p:spPr>
        <p:txBody>
          <a:bodyPr wrap="square">
            <a:spAutoFit/>
          </a:bodyPr>
          <a:lstStyle/>
          <a:p>
            <a:pPr algn="ctr"/>
            <a:r>
              <a:rPr sz="2000" b="1">
                <a:solidFill>
                  <a:srgbClr val="1E3A5F"/>
                </a:solidFill>
                <a:latin typeface="Times New Roman"/>
              </a:rPr>
              <a:t>Gantt Chart Page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Results — Authentication Pages</a:t>
            </a:r>
          </a:p>
        </p:txBody>
      </p:sp>
      <p:sp>
        <p:nvSpPr>
          <p:cNvPr id="3" name="Rounded Rectangle 2"/>
          <p:cNvSpPr/>
          <p:nvPr/>
        </p:nvSpPr>
        <p:spPr>
          <a:xfrm>
            <a:off x="457200" y="1828800"/>
            <a:ext cx="5303520" cy="50292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840480"/>
            <a:ext cx="4389120" cy="914400"/>
          </a:xfrm>
          <a:prstGeom prst="rect">
            <a:avLst/>
          </a:prstGeom>
          <a:noFill/>
        </p:spPr>
        <p:txBody>
          <a:bodyPr wrap="square">
            <a:spAutoFit/>
          </a:bodyPr>
          <a:lstStyle/>
          <a:p>
            <a:pPr algn="ctr"/>
            <a:r>
              <a:rPr sz="1800" b="0">
                <a:solidFill>
                  <a:srgbClr val="666666"/>
                </a:solidFill>
                <a:latin typeface="Times New Roman"/>
              </a:rPr>
              <a:t>[ Login Page Screenshot ]</a:t>
            </a:r>
          </a:p>
        </p:txBody>
      </p:sp>
      <p:sp>
        <p:nvSpPr>
          <p:cNvPr id="5" name="TextBox 4"/>
          <p:cNvSpPr txBox="1"/>
          <p:nvPr/>
        </p:nvSpPr>
        <p:spPr>
          <a:xfrm>
            <a:off x="457200" y="7040880"/>
            <a:ext cx="5303520" cy="365760"/>
          </a:xfrm>
          <a:prstGeom prst="rect">
            <a:avLst/>
          </a:prstGeom>
          <a:noFill/>
        </p:spPr>
        <p:txBody>
          <a:bodyPr wrap="square">
            <a:spAutoFit/>
          </a:bodyPr>
          <a:lstStyle/>
          <a:p>
            <a:pPr algn="ctr"/>
            <a:r>
              <a:rPr sz="2000" b="1">
                <a:solidFill>
                  <a:srgbClr val="1E3A5F"/>
                </a:solidFill>
                <a:latin typeface="Times New Roman"/>
              </a:rPr>
              <a:t>Login Page</a:t>
            </a:r>
          </a:p>
        </p:txBody>
      </p:sp>
      <p:sp>
        <p:nvSpPr>
          <p:cNvPr id="6" name="Rounded Rectangle 5"/>
          <p:cNvSpPr/>
          <p:nvPr/>
        </p:nvSpPr>
        <p:spPr>
          <a:xfrm>
            <a:off x="6126480" y="1828800"/>
            <a:ext cx="5303520" cy="50292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3840480"/>
            <a:ext cx="4389120" cy="914400"/>
          </a:xfrm>
          <a:prstGeom prst="rect">
            <a:avLst/>
          </a:prstGeom>
          <a:noFill/>
        </p:spPr>
        <p:txBody>
          <a:bodyPr wrap="square">
            <a:spAutoFit/>
          </a:bodyPr>
          <a:lstStyle/>
          <a:p>
            <a:pPr algn="ctr"/>
            <a:r>
              <a:rPr sz="1800" b="0">
                <a:solidFill>
                  <a:srgbClr val="666666"/>
                </a:solidFill>
                <a:latin typeface="Times New Roman"/>
              </a:rPr>
              <a:t>[ Forgot Password (OTP Flow) Screenshot ]</a:t>
            </a:r>
          </a:p>
        </p:txBody>
      </p:sp>
      <p:sp>
        <p:nvSpPr>
          <p:cNvPr id="8" name="TextBox 7"/>
          <p:cNvSpPr txBox="1"/>
          <p:nvPr/>
        </p:nvSpPr>
        <p:spPr>
          <a:xfrm>
            <a:off x="6126480" y="7040880"/>
            <a:ext cx="5303520" cy="365760"/>
          </a:xfrm>
          <a:prstGeom prst="rect">
            <a:avLst/>
          </a:prstGeom>
          <a:noFill/>
        </p:spPr>
        <p:txBody>
          <a:bodyPr wrap="square">
            <a:spAutoFit/>
          </a:bodyPr>
          <a:lstStyle/>
          <a:p>
            <a:pPr algn="ctr"/>
            <a:r>
              <a:rPr sz="2000" b="1">
                <a:solidFill>
                  <a:srgbClr val="1E3A5F"/>
                </a:solidFill>
                <a:latin typeface="Times New Roman"/>
              </a:rPr>
              <a:t>Forgot Password (OTP Flow)</a:t>
            </a:r>
          </a:p>
        </p:txBody>
      </p:sp>
      <p:sp>
        <p:nvSpPr>
          <p:cNvPr id="9" name="Rounded Rectangle 8"/>
          <p:cNvSpPr/>
          <p:nvPr/>
        </p:nvSpPr>
        <p:spPr>
          <a:xfrm>
            <a:off x="11795760" y="1828800"/>
            <a:ext cx="5303520" cy="50292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252960" y="3840480"/>
            <a:ext cx="4389120" cy="914400"/>
          </a:xfrm>
          <a:prstGeom prst="rect">
            <a:avLst/>
          </a:prstGeom>
          <a:noFill/>
        </p:spPr>
        <p:txBody>
          <a:bodyPr wrap="square">
            <a:spAutoFit/>
          </a:bodyPr>
          <a:lstStyle/>
          <a:p>
            <a:pPr algn="ctr"/>
            <a:r>
              <a:rPr sz="1800" b="0">
                <a:solidFill>
                  <a:srgbClr val="666666"/>
                </a:solidFill>
                <a:latin typeface="Times New Roman"/>
              </a:rPr>
              <a:t>[ Password Reset Screenshot ]</a:t>
            </a:r>
          </a:p>
        </p:txBody>
      </p:sp>
      <p:sp>
        <p:nvSpPr>
          <p:cNvPr id="11" name="TextBox 10"/>
          <p:cNvSpPr txBox="1"/>
          <p:nvPr/>
        </p:nvSpPr>
        <p:spPr>
          <a:xfrm>
            <a:off x="11795760" y="7040880"/>
            <a:ext cx="5303520" cy="365760"/>
          </a:xfrm>
          <a:prstGeom prst="rect">
            <a:avLst/>
          </a:prstGeom>
          <a:noFill/>
        </p:spPr>
        <p:txBody>
          <a:bodyPr wrap="square">
            <a:spAutoFit/>
          </a:bodyPr>
          <a:lstStyle/>
          <a:p>
            <a:pPr algn="ctr"/>
            <a:r>
              <a:rPr sz="2000" b="1">
                <a:solidFill>
                  <a:srgbClr val="1E3A5F"/>
                </a:solidFill>
                <a:latin typeface="Times New Roman"/>
              </a:rPr>
              <a:t>Password Reset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Future Enhancements</a:t>
            </a:r>
          </a:p>
        </p:txBody>
      </p:sp>
      <p:sp>
        <p:nvSpPr>
          <p:cNvPr id="3" name="TextBox 2"/>
          <p:cNvSpPr txBox="1"/>
          <p:nvPr/>
        </p:nvSpPr>
        <p:spPr>
          <a:xfrm>
            <a:off x="731520" y="2011680"/>
            <a:ext cx="15544800" cy="6400800"/>
          </a:xfrm>
          <a:prstGeom prst="rect">
            <a:avLst/>
          </a:prstGeom>
          <a:noFill/>
        </p:spPr>
        <p:txBody>
          <a:bodyPr wrap="square">
            <a:spAutoFit/>
          </a:bodyPr>
          <a:lstStyle/>
          <a:p>
            <a:pPr>
              <a:spcBef>
                <a:spcPts val="400"/>
              </a:spcBef>
              <a:spcAft>
                <a:spcPts val="600"/>
              </a:spcAft>
            </a:pPr>
            <a:r>
              <a:rPr sz="2400" b="1">
                <a:solidFill>
                  <a:srgbClr val="251C23"/>
                </a:solidFill>
                <a:latin typeface="Times New Roman"/>
              </a:rPr>
              <a:t>• Email Notifications:</a:t>
            </a:r>
            <a:r>
              <a:rPr sz="2400" b="0">
                <a:solidFill>
                  <a:srgbClr val="251C23"/>
                </a:solidFill>
                <a:latin typeface="Times New Roman"/>
              </a:rPr>
              <a:t> Deadline reminders, task assignment alerts, weekly digest reports using production SMTP</a:t>
            </a:r>
          </a:p>
          <a:p>
            <a:pPr>
              <a:spcBef>
                <a:spcPts val="400"/>
              </a:spcBef>
              <a:spcAft>
                <a:spcPts val="600"/>
              </a:spcAft>
            </a:pPr>
            <a:r>
              <a:rPr sz="2400" b="1">
                <a:solidFill>
                  <a:srgbClr val="251C23"/>
                </a:solidFill>
                <a:latin typeface="Times New Roman"/>
              </a:rPr>
              <a:t>• Advanced Reporting:</a:t>
            </a:r>
            <a:r>
              <a:rPr sz="2400" b="0">
                <a:solidFill>
                  <a:srgbClr val="251C23"/>
                </a:solidFill>
                <a:latin typeface="Times New Roman"/>
              </a:rPr>
              <a:t> PDF/Excel export, custom report builder, budget vs actual analysis</a:t>
            </a:r>
          </a:p>
          <a:p>
            <a:pPr>
              <a:spcBef>
                <a:spcPts val="400"/>
              </a:spcBef>
              <a:spcAft>
                <a:spcPts val="600"/>
              </a:spcAft>
            </a:pPr>
            <a:r>
              <a:rPr sz="2400" b="1">
                <a:solidFill>
                  <a:srgbClr val="251C23"/>
                </a:solidFill>
                <a:latin typeface="Times New Roman"/>
              </a:rPr>
              <a:t>• Real-Time Collaboration:</a:t>
            </a:r>
            <a:r>
              <a:rPr sz="2400" b="0">
                <a:solidFill>
                  <a:srgbClr val="251C23"/>
                </a:solidFill>
                <a:latin typeface="Times New Roman"/>
              </a:rPr>
              <a:t> Comments on tasks, file attachments, real-time team chat via WebSocket</a:t>
            </a:r>
          </a:p>
          <a:p>
            <a:pPr>
              <a:spcBef>
                <a:spcPts val="400"/>
              </a:spcBef>
              <a:spcAft>
                <a:spcPts val="600"/>
              </a:spcAft>
            </a:pPr>
            <a:r>
              <a:rPr sz="2400" b="1">
                <a:solidFill>
                  <a:srgbClr val="251C23"/>
                </a:solidFill>
                <a:latin typeface="Times New Roman"/>
              </a:rPr>
              <a:t>• Mobile Application:</a:t>
            </a:r>
            <a:r>
              <a:rPr sz="2400" b="0">
                <a:solidFill>
                  <a:srgbClr val="251C23"/>
                </a:solidFill>
                <a:latin typeface="Times New Roman"/>
              </a:rPr>
              <a:t> React Native version with offline support and push notifications</a:t>
            </a:r>
          </a:p>
          <a:p>
            <a:pPr>
              <a:spcBef>
                <a:spcPts val="400"/>
              </a:spcBef>
              <a:spcAft>
                <a:spcPts val="600"/>
              </a:spcAft>
            </a:pPr>
            <a:r>
              <a:rPr sz="2400" b="1">
                <a:solidFill>
                  <a:srgbClr val="251C23"/>
                </a:solidFill>
                <a:latin typeface="Times New Roman"/>
              </a:rPr>
              <a:t>• AI-Powered Features:</a:t>
            </a:r>
            <a:r>
              <a:rPr sz="2400" b="0">
                <a:solidFill>
                  <a:srgbClr val="251C23"/>
                </a:solidFill>
                <a:latin typeface="Times New Roman"/>
              </a:rPr>
              <a:t> Automated task estimation, risk prediction, resource optimization using ML models</a:t>
            </a:r>
          </a:p>
          <a:p>
            <a:pPr>
              <a:spcBef>
                <a:spcPts val="400"/>
              </a:spcBef>
              <a:spcAft>
                <a:spcPts val="600"/>
              </a:spcAft>
            </a:pPr>
            <a:r>
              <a:rPr sz="2400" b="1">
                <a:solidFill>
                  <a:srgbClr val="251C23"/>
                </a:solidFill>
                <a:latin typeface="Times New Roman"/>
              </a:rPr>
              <a:t>• Advanced Analytics:</a:t>
            </a:r>
            <a:r>
              <a:rPr sz="2400" b="0">
                <a:solidFill>
                  <a:srgbClr val="251C23"/>
                </a:solidFill>
                <a:latin typeface="Times New Roman"/>
              </a:rPr>
              <a:t> Burndown charts, velocity tracking, predictive timelines using historical data</a:t>
            </a:r>
          </a:p>
          <a:p>
            <a:pPr>
              <a:spcBef>
                <a:spcPts val="400"/>
              </a:spcBef>
              <a:spcAft>
                <a:spcPts val="600"/>
              </a:spcAft>
            </a:pPr>
            <a:r>
              <a:rPr sz="2400" b="1">
                <a:solidFill>
                  <a:srgbClr val="251C23"/>
                </a:solidFill>
                <a:latin typeface="Times New Roman"/>
              </a:rPr>
              <a:t>• Role-Based Access Control:</a:t>
            </a:r>
            <a:r>
              <a:rPr sz="2400" b="0">
                <a:solidFill>
                  <a:srgbClr val="251C23"/>
                </a:solidFill>
                <a:latin typeface="Times New Roman"/>
              </a:rPr>
              <a:t> Granular permissions — Admin, Manager, Member roles with different access levels</a:t>
            </a:r>
          </a:p>
          <a:p>
            <a:pPr>
              <a:spcBef>
                <a:spcPts val="400"/>
              </a:spcBef>
              <a:spcAft>
                <a:spcPts val="600"/>
              </a:spcAft>
            </a:pPr>
            <a:r>
              <a:rPr sz="2400" b="1">
                <a:solidFill>
                  <a:srgbClr val="251C23"/>
                </a:solidFill>
                <a:latin typeface="Times New Roman"/>
              </a:rPr>
              <a:t>• Multi-Language Support:</a:t>
            </a:r>
            <a:r>
              <a:rPr sz="2400" b="0">
                <a:solidFill>
                  <a:srgbClr val="251C23"/>
                </a:solidFill>
                <a:latin typeface="Times New Roman"/>
              </a:rPr>
              <a:t> Internationalization (i18n) for supporting multiple languages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640080"/>
            <a:ext cx="14630400" cy="822960"/>
          </a:xfrm>
          <a:prstGeom prst="rect">
            <a:avLst/>
          </a:prstGeom>
          <a:noFill/>
        </p:spPr>
        <p:txBody>
          <a:bodyPr wrap="square">
            <a:spAutoFit/>
          </a:bodyPr>
          <a:lstStyle/>
          <a:p>
            <a:pPr algn="ctr"/>
            <a:r>
              <a:rPr sz="4800" b="0">
                <a:solidFill>
                  <a:srgbClr val="000000"/>
                </a:solidFill>
                <a:latin typeface="Times New Roman"/>
              </a:rPr>
              <a:t>CONCLUSION</a:t>
            </a:r>
          </a:p>
        </p:txBody>
      </p:sp>
      <p:sp>
        <p:nvSpPr>
          <p:cNvPr id="3" name="TextBox 2"/>
          <p:cNvSpPr txBox="1"/>
          <p:nvPr/>
        </p:nvSpPr>
        <p:spPr>
          <a:xfrm>
            <a:off x="914400" y="2011680"/>
            <a:ext cx="16002000" cy="6400800"/>
          </a:xfrm>
          <a:prstGeom prst="rect">
            <a:avLst/>
          </a:prstGeom>
          <a:noFill/>
        </p:spPr>
        <p:txBody>
          <a:bodyPr wrap="square">
            <a:spAutoFit/>
          </a:bodyPr>
          <a:lstStyle/>
          <a:p>
            <a:pPr algn="l">
              <a:lnSpc>
                <a:spcPts val="4060"/>
              </a:lnSpc>
            </a:pPr>
            <a:r>
              <a:rPr sz="2800" b="0">
                <a:solidFill>
                  <a:srgbClr val="000000"/>
                </a:solidFill>
                <a:latin typeface="Times New Roman"/>
              </a:rPr>
              <a:t>We have successfully developed a comprehensive, full-stack Project Management Dashboard using the MERN stack (MongoDB, Express.js, React.js, Node.js) that addresses the key challenges of modern project management.
The system provides interactive Gantt chart visualization with drag-and-drop scheduling, real-time dashboard analytics with KPI cards and Chart.js visualizations, complete CRUD operations for projects, tasks, and resources, and a robust authentication system with JWT tokens, OTP-based password reset, and Nodemailer email integration.
The application demonstrates practical implementation of full-stack web development, RESTful API design, database modeling with Mongoose, state management with React Context API, and responsive UI design. The modular architecture ensures easy maintenance and scalability for future enhancements including real-time collaboration, mobile apps, and AI-driven features.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5544800" y="-457200"/>
            <a:ext cx="2286000" cy="228600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0" y="7772400"/>
            <a:ext cx="1828800" cy="1828800"/>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14630400" cy="1371600"/>
          </a:xfrm>
          <a:prstGeom prst="rect">
            <a:avLst/>
          </a:prstGeom>
          <a:noFill/>
        </p:spPr>
        <p:txBody>
          <a:bodyPr wrap="square">
            <a:spAutoFit/>
          </a:bodyPr>
          <a:lstStyle/>
          <a:p>
            <a:pPr algn="ctr"/>
            <a:r>
              <a:rPr sz="6000" b="1">
                <a:solidFill>
                  <a:srgbClr val="1E3A5F"/>
                </a:solidFill>
                <a:latin typeface="Times New Roman"/>
              </a:rPr>
              <a:t>THANK YOU</a:t>
            </a:r>
          </a:p>
        </p:txBody>
      </p:sp>
      <p:sp>
        <p:nvSpPr>
          <p:cNvPr id="5" name="TextBox 4"/>
          <p:cNvSpPr txBox="1"/>
          <p:nvPr/>
        </p:nvSpPr>
        <p:spPr>
          <a:xfrm>
            <a:off x="1828800" y="4114800"/>
            <a:ext cx="14630400" cy="914400"/>
          </a:xfrm>
          <a:prstGeom prst="rect">
            <a:avLst/>
          </a:prstGeom>
          <a:noFill/>
        </p:spPr>
        <p:txBody>
          <a:bodyPr wrap="square">
            <a:spAutoFit/>
          </a:bodyPr>
          <a:lstStyle/>
          <a:p>
            <a:pPr algn="ctr"/>
            <a:r>
              <a:rPr sz="2800" b="0">
                <a:solidFill>
                  <a:srgbClr val="666666"/>
                </a:solidFill>
                <a:latin typeface="Times New Roman"/>
              </a:rPr>
              <a:t>Project Management Dashboard
with Interactive Gantt Chart Visualization System</a:t>
            </a:r>
          </a:p>
        </p:txBody>
      </p:sp>
      <p:sp>
        <p:nvSpPr>
          <p:cNvPr id="6" name="TextBox 5"/>
          <p:cNvSpPr txBox="1"/>
          <p:nvPr/>
        </p:nvSpPr>
        <p:spPr>
          <a:xfrm>
            <a:off x="2743200" y="5486400"/>
            <a:ext cx="12801600" cy="457200"/>
          </a:xfrm>
          <a:prstGeom prst="rect">
            <a:avLst/>
          </a:prstGeom>
          <a:noFill/>
        </p:spPr>
        <p:txBody>
          <a:bodyPr wrap="square">
            <a:spAutoFit/>
          </a:bodyPr>
          <a:lstStyle/>
          <a:p>
            <a:pPr algn="ctr"/>
            <a:r>
              <a:rPr sz="2000" b="0">
                <a:solidFill>
                  <a:srgbClr val="3C6CA8"/>
                </a:solidFill>
                <a:latin typeface="Times New Roman"/>
              </a:rPr>
              <a:t>Tech Stack: React.js | Node.js | Express.js | MongoDB | Chart.js | DHTMLX Gantt</a:t>
            </a:r>
          </a:p>
        </p:txBody>
      </p:sp>
      <p:sp>
        <p:nvSpPr>
          <p:cNvPr id="7" name="TextBox 6"/>
          <p:cNvSpPr txBox="1"/>
          <p:nvPr/>
        </p:nvSpPr>
        <p:spPr>
          <a:xfrm>
            <a:off x="4572000" y="7315200"/>
            <a:ext cx="9144000" cy="731520"/>
          </a:xfrm>
          <a:prstGeom prst="rect">
            <a:avLst/>
          </a:prstGeom>
          <a:noFill/>
        </p:spPr>
        <p:txBody>
          <a:bodyPr wrap="square">
            <a:spAutoFit/>
          </a:bodyPr>
          <a:lstStyle/>
          <a:p>
            <a:pPr algn="ctr"/>
            <a:r>
              <a:rPr sz="4400" b="1">
                <a:solidFill>
                  <a:srgbClr val="1E3A5F"/>
                </a:solidFill>
                <a:latin typeface="Times New Roman"/>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